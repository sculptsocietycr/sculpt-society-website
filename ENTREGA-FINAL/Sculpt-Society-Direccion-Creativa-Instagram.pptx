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jpg"/><Relationship Id="rId5" Type="http://schemas.openxmlformats.org/officeDocument/2006/relationships/image" Target="../media/image-3-5.jpg"/><Relationship Id="rId6" Type="http://schemas.openxmlformats.org/officeDocument/2006/relationships/image" Target="../media/image-3-6.jpg"/><Relationship Id="rId7" Type="http://schemas.openxmlformats.org/officeDocument/2006/relationships/image" Target="../media/image-3-7.jpg"/><Relationship Id="rId8" Type="http://schemas.openxmlformats.org/officeDocument/2006/relationships/image" Target="../media/image-3-8.jpg"/><Relationship Id="rId9" Type="http://schemas.openxmlformats.org/officeDocument/2006/relationships/image" Target="../media/image-3-9.jpg"/><Relationship Id="rId10" Type="http://schemas.openxmlformats.org/officeDocument/2006/relationships/image" Target="../media/image-3-10.jpg"/><Relationship Id="rId11" Type="http://schemas.openxmlformats.org/officeDocument/2006/relationships/image" Target="../media/image-3-11.jpg"/><Relationship Id="rId12" Type="http://schemas.openxmlformats.org/officeDocument/2006/relationships/image" Target="../media/image-3-12.jp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image" Target="../media/image-13-4.jpg"/><Relationship Id="rId5" Type="http://schemas.openxmlformats.org/officeDocument/2006/relationships/image" Target="../media/image-13-1.jpg"/><Relationship Id="rId6" Type="http://schemas.openxmlformats.org/officeDocument/2006/relationships/image" Target="../media/image-13-6.jpg"/><Relationship Id="rId7" Type="http://schemas.openxmlformats.org/officeDocument/2006/relationships/image" Target="../media/image-13-7.jpg"/><Relationship Id="rId8" Type="http://schemas.openxmlformats.org/officeDocument/2006/relationships/image" Target="../media/image-13-2.jp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11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culpt-deck/build/img/crop-1716-stor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0" y="0"/>
            <a:ext cx="5333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0" y="0"/>
            <a:ext cx="5333695" cy="6858000"/>
          </a:xfrm>
          <a:prstGeom prst="rect">
            <a:avLst/>
          </a:prstGeom>
          <a:solidFill>
            <a:srgbClr val="811D16">
              <a:alpha val="12000"/>
            </a:srgbClr>
          </a:solidFill>
          <a:ln w="12700">
            <a:solidFill>
              <a:srgbClr val="811D16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548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0" kern="0" dirty="0">
                <a:solidFill>
                  <a:srgbClr val="F4BA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DECK DE DIRECCIÓN CREATIVA · 2026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600" kern="0" dirty="0">
                <a:solidFill>
                  <a:srgbClr val="F4BA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SCULPT SOCIETY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1920240"/>
            <a:ext cx="64008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600" i="1" dirty="0">
                <a:solidFill>
                  <a:srgbClr val="F9F5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Hannah
</a:t>
            </a:r>
            <a:pPr indent="0" marL="0">
              <a:lnSpc>
                <a:spcPct val="95000"/>
              </a:lnSpc>
              <a:buNone/>
            </a:pPr>
            <a:r>
              <a:rPr lang="en-US" sz="7600" i="1" dirty="0">
                <a:solidFill>
                  <a:srgbClr val="F9F5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Montana
</a:t>
            </a:r>
            <a:pPr indent="0" marL="0">
              <a:lnSpc>
                <a:spcPct val="95000"/>
              </a:lnSpc>
              <a:buNone/>
            </a:pPr>
            <a:r>
              <a:rPr lang="en-US" sz="7600" i="1" dirty="0">
                <a:solidFill>
                  <a:srgbClr val="E7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Edition.</a:t>
            </a:r>
            <a:endParaRPr lang="en-US" sz="7600" dirty="0"/>
          </a:p>
        </p:txBody>
      </p:sp>
      <p:sp>
        <p:nvSpPr>
          <p:cNvPr id="7" name="Text 4"/>
          <p:cNvSpPr/>
          <p:nvPr/>
        </p:nvSpPr>
        <p:spPr>
          <a:xfrm>
            <a:off x="548640" y="5212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4B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Dirección creativa de Instagram · conceptos de invitación · sistema de campaña.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5760720"/>
            <a:ext cx="5486400" cy="0"/>
          </a:xfrm>
          <a:prstGeom prst="line">
            <a:avLst/>
          </a:prstGeom>
          <a:noFill/>
          <a:ln w="9525">
            <a:solidFill>
              <a:srgbClr val="F4BABB">
                <a:alpha val="5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5852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0" kern="0" dirty="0">
                <a:solidFill>
                  <a:srgbClr val="F4BA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 · JUNIO · 2026     |     PALOMA STUDIOS, ESCAZÚ, CR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F4BABB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PREPARADO PARA @sculptsocietycr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SCULPT SOCIETY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76895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600" kern="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ÍNDICE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9525">
            <a:solidFill>
              <a:srgbClr val="811D1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6350">
            <a:solidFill>
              <a:srgbClr val="811D16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@sculptsocietycr · sculptsocietycr.com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/ 18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811D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vas a encontrar.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7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80160" y="20116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Análisis de fotos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Las 12 fotos, ranqueadas por utilidad.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11277295" cy="0"/>
          </a:xfrm>
          <a:prstGeom prst="line">
            <a:avLst/>
          </a:prstGeom>
          <a:noFill/>
          <a:ln w="5080">
            <a:solidFill>
              <a:srgbClr val="811D16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0604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7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80160" y="26060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Dirección creativa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2606040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Mood, paleta, tipografía, reglas de composición.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11277295" cy="0"/>
          </a:xfrm>
          <a:prstGeom prst="line">
            <a:avLst/>
          </a:prstGeom>
          <a:noFill/>
          <a:ln w="5080">
            <a:solidFill>
              <a:srgbClr val="811D16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0040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7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80160" y="32004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Conceptos de invitación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0" y="3200400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Tres mockups en alta fidelidad (story + feed).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11277295" cy="0"/>
          </a:xfrm>
          <a:prstGeom prst="line">
            <a:avLst/>
          </a:prstGeom>
          <a:noFill/>
          <a:ln w="5080">
            <a:solidFill>
              <a:srgbClr val="811D16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9476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7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80160" y="37947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Biblioteca de copys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0" y="3794760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Variaciones: corto, elegante, divertido, urgente, WhatsApp.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343400"/>
            <a:ext cx="11277295" cy="0"/>
          </a:xfrm>
          <a:prstGeom prst="line">
            <a:avLst/>
          </a:prstGeom>
          <a:noFill/>
          <a:ln w="5080">
            <a:solidFill>
              <a:srgbClr val="811D16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38912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7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280160" y="43891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Mini-campaña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29200" y="4389120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Ocho piezas de Instagram, lanzamiento en tres semanas.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937760"/>
            <a:ext cx="11277295" cy="0"/>
          </a:xfrm>
          <a:prstGeom prst="line">
            <a:avLst/>
          </a:prstGeom>
          <a:noFill/>
          <a:ln w="5080">
            <a:solidFill>
              <a:srgbClr val="811D16">
                <a:alpha val="2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98348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7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280160" y="49834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Reglas de ejecución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29200" y="4983480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Sí / no. Color grade. Márgenes. Plantillas.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5532120"/>
            <a:ext cx="11277295" cy="0"/>
          </a:xfrm>
          <a:prstGeom prst="line">
            <a:avLst/>
          </a:prstGeom>
          <a:noFill/>
          <a:ln w="5080">
            <a:solidFill>
              <a:srgbClr val="811D16">
                <a:alpha val="2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557784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7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280160" y="55778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Recomendación final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029200" y="5577840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Qué concepto lanzar — y por qué.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6126480"/>
            <a:ext cx="11277295" cy="0"/>
          </a:xfrm>
          <a:prstGeom prst="line">
            <a:avLst/>
          </a:prstGeom>
          <a:noFill/>
          <a:ln w="5080">
            <a:solidFill>
              <a:srgbClr val="811D16">
                <a:alpha val="2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SCULPT SOCIETY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76895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600" kern="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· ANÁLISIS DE FOTOS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9525">
            <a:solidFill>
              <a:srgbClr val="811D1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6350">
            <a:solidFill>
              <a:srgbClr val="811D16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@sculptsocietycr · sculptsocietycr.com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/ 18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811D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shoot, de un vistazo.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 fotos · 1 locación · 1 modelo · paleta vino + coral ya on-brand.</a:t>
            </a:r>
            <a:endParaRPr lang="en-US" sz="1200" dirty="0"/>
          </a:p>
        </p:txBody>
      </p:sp>
      <p:pic>
        <p:nvPicPr>
          <p:cNvPr id="10" name="Image 0" descr="/tmp/sculpt-deck/build/img/thumb-IMG_121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2103120"/>
            <a:ext cx="1691640" cy="18745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3995928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#1219</a:t>
            </a:r>
            <a:endParaRPr lang="en-US" sz="800" dirty="0"/>
          </a:p>
        </p:txBody>
      </p:sp>
      <p:pic>
        <p:nvPicPr>
          <p:cNvPr id="12" name="Image 1" descr="/tmp/sculpt-deck/build/img/thumb-IMG_1221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313432" y="2103120"/>
            <a:ext cx="1691640" cy="18745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313432" y="3995928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#1221</a:t>
            </a:r>
            <a:endParaRPr lang="en-US" sz="800" dirty="0"/>
          </a:p>
        </p:txBody>
      </p:sp>
      <p:pic>
        <p:nvPicPr>
          <p:cNvPr id="14" name="Image 2" descr="/tmp/sculpt-deck/build/img/thumb-IMG_1225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69664" y="2103120"/>
            <a:ext cx="1691640" cy="18745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169664" y="3995928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#1225</a:t>
            </a:r>
            <a:endParaRPr lang="en-US" sz="800" dirty="0"/>
          </a:p>
        </p:txBody>
      </p:sp>
      <p:pic>
        <p:nvPicPr>
          <p:cNvPr id="16" name="Image 3" descr="/tmp/sculpt-deck/build/img/thumb-IMG_1240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025896" y="2103120"/>
            <a:ext cx="1691640" cy="18745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025896" y="3995928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#1240</a:t>
            </a:r>
            <a:endParaRPr lang="en-US" sz="800" dirty="0"/>
          </a:p>
        </p:txBody>
      </p:sp>
      <p:sp>
        <p:nvSpPr>
          <p:cNvPr id="18" name="Shape 12"/>
          <p:cNvSpPr/>
          <p:nvPr/>
        </p:nvSpPr>
        <p:spPr>
          <a:xfrm>
            <a:off x="6025896" y="2103120"/>
            <a:ext cx="1691640" cy="292608"/>
          </a:xfrm>
          <a:prstGeom prst="rect">
            <a:avLst/>
          </a:prstGeom>
          <a:solidFill>
            <a:srgbClr val="811D16"/>
          </a:solidFill>
          <a:ln w="12700">
            <a:solidFill>
              <a:srgbClr val="811D16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6025896" y="210312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🥇 HERO</a:t>
            </a:r>
            <a:endParaRPr lang="en-US" sz="900" dirty="0"/>
          </a:p>
        </p:txBody>
      </p:sp>
      <p:pic>
        <p:nvPicPr>
          <p:cNvPr id="20" name="Image 4" descr="/tmp/sculpt-deck/build/img/thumb-IMG_1247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882128" y="2103120"/>
            <a:ext cx="1691640" cy="18745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882128" y="3995928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#1247</a:t>
            </a:r>
            <a:endParaRPr lang="en-US" sz="800" dirty="0"/>
          </a:p>
        </p:txBody>
      </p:sp>
      <p:pic>
        <p:nvPicPr>
          <p:cNvPr id="22" name="Image 5" descr="/tmp/sculpt-deck/build/img/thumb-IMG_1277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738360" y="2103120"/>
            <a:ext cx="1691640" cy="187452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738360" y="3995928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#1277</a:t>
            </a:r>
            <a:endParaRPr lang="en-US" sz="800" dirty="0"/>
          </a:p>
        </p:txBody>
      </p:sp>
      <p:pic>
        <p:nvPicPr>
          <p:cNvPr id="24" name="Image 6" descr="/tmp/sculpt-deck/build/img/thumb-IMG_1293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57200" y="4142232"/>
            <a:ext cx="1691640" cy="187452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457200" y="6035040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#1293</a:t>
            </a:r>
            <a:endParaRPr lang="en-US" sz="800" dirty="0"/>
          </a:p>
        </p:txBody>
      </p:sp>
      <p:sp>
        <p:nvSpPr>
          <p:cNvPr id="26" name="Shape 17"/>
          <p:cNvSpPr/>
          <p:nvPr/>
        </p:nvSpPr>
        <p:spPr>
          <a:xfrm>
            <a:off x="457200" y="4142232"/>
            <a:ext cx="1691640" cy="292608"/>
          </a:xfrm>
          <a:prstGeom prst="rect">
            <a:avLst/>
          </a:prstGeom>
          <a:solidFill>
            <a:srgbClr val="811D16"/>
          </a:solidFill>
          <a:ln w="12700">
            <a:solidFill>
              <a:srgbClr val="811D16"/>
            </a:solidFill>
            <a:prstDash val="solid"/>
          </a:ln>
        </p:spPr>
      </p:sp>
      <p:sp>
        <p:nvSpPr>
          <p:cNvPr id="27" name="Text 18"/>
          <p:cNvSpPr/>
          <p:nvPr/>
        </p:nvSpPr>
        <p:spPr>
          <a:xfrm>
            <a:off x="457200" y="414223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🥉 PERSONALIDAD</a:t>
            </a:r>
            <a:endParaRPr lang="en-US" sz="900" dirty="0"/>
          </a:p>
        </p:txBody>
      </p:sp>
      <p:pic>
        <p:nvPicPr>
          <p:cNvPr id="28" name="Image 7" descr="/tmp/sculpt-deck/build/img/thumb-IMG_1694.jp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2313432" y="4142232"/>
            <a:ext cx="1691640" cy="187452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2313432" y="6035040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#1694</a:t>
            </a:r>
            <a:endParaRPr lang="en-US" sz="800" dirty="0"/>
          </a:p>
        </p:txBody>
      </p:sp>
      <p:pic>
        <p:nvPicPr>
          <p:cNvPr id="30" name="Image 8" descr="/tmp/sculpt-deck/build/img/thumb-IMG_1698.jp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169664" y="4142232"/>
            <a:ext cx="1691640" cy="187452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4169664" y="6035040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#1698</a:t>
            </a:r>
            <a:endParaRPr lang="en-US" sz="800" dirty="0"/>
          </a:p>
        </p:txBody>
      </p:sp>
      <p:pic>
        <p:nvPicPr>
          <p:cNvPr id="32" name="Image 9" descr="/tmp/sculpt-deck/build/img/thumb-IMG_1708.jp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025896" y="4142232"/>
            <a:ext cx="1691640" cy="187452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6025896" y="6035040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#1708</a:t>
            </a:r>
            <a:endParaRPr lang="en-US" sz="800" dirty="0"/>
          </a:p>
        </p:txBody>
      </p:sp>
      <p:sp>
        <p:nvSpPr>
          <p:cNvPr id="34" name="Shape 22"/>
          <p:cNvSpPr/>
          <p:nvPr/>
        </p:nvSpPr>
        <p:spPr>
          <a:xfrm>
            <a:off x="6025896" y="4142232"/>
            <a:ext cx="1691640" cy="292608"/>
          </a:xfrm>
          <a:prstGeom prst="rect">
            <a:avLst/>
          </a:prstGeom>
          <a:solidFill>
            <a:srgbClr val="811D16"/>
          </a:solidFill>
          <a:ln w="12700">
            <a:solidFill>
              <a:srgbClr val="811D16"/>
            </a:solidFill>
            <a:prstDash val="solid"/>
          </a:ln>
        </p:spPr>
      </p:sp>
      <p:sp>
        <p:nvSpPr>
          <p:cNvPr id="35" name="Text 23"/>
          <p:cNvSpPr/>
          <p:nvPr/>
        </p:nvSpPr>
        <p:spPr>
          <a:xfrm>
            <a:off x="6025896" y="414223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🏅 ÚLT. CUPOS</a:t>
            </a:r>
            <a:endParaRPr lang="en-US" sz="900" dirty="0"/>
          </a:p>
        </p:txBody>
      </p:sp>
      <p:pic>
        <p:nvPicPr>
          <p:cNvPr id="36" name="Image 10" descr="/tmp/sculpt-deck/build/img/thumb-IMG_1709.jp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7882128" y="4142232"/>
            <a:ext cx="1691640" cy="1874520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7882128" y="6035040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#1709</a:t>
            </a:r>
            <a:endParaRPr lang="en-US" sz="800" dirty="0"/>
          </a:p>
        </p:txBody>
      </p:sp>
      <p:pic>
        <p:nvPicPr>
          <p:cNvPr id="38" name="Image 11" descr="/tmp/sculpt-deck/build/img/thumb-IMG_1716.jp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9738360" y="4142232"/>
            <a:ext cx="1691640" cy="1874520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9738360" y="6035040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#1716</a:t>
            </a:r>
            <a:endParaRPr lang="en-US" sz="800" dirty="0"/>
          </a:p>
        </p:txBody>
      </p:sp>
      <p:sp>
        <p:nvSpPr>
          <p:cNvPr id="40" name="Shape 26"/>
          <p:cNvSpPr/>
          <p:nvPr/>
        </p:nvSpPr>
        <p:spPr>
          <a:xfrm>
            <a:off x="9738360" y="4142232"/>
            <a:ext cx="1691640" cy="292608"/>
          </a:xfrm>
          <a:prstGeom prst="rect">
            <a:avLst/>
          </a:prstGeom>
          <a:solidFill>
            <a:srgbClr val="811D16"/>
          </a:solidFill>
          <a:ln w="12700">
            <a:solidFill>
              <a:srgbClr val="811D16"/>
            </a:solidFill>
            <a:prstDash val="solid"/>
          </a:ln>
        </p:spPr>
      </p:sp>
      <p:sp>
        <p:nvSpPr>
          <p:cNvPr id="41" name="Text 27"/>
          <p:cNvSpPr/>
          <p:nvPr/>
        </p:nvSpPr>
        <p:spPr>
          <a:xfrm>
            <a:off x="9738360" y="414223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🥈 EDITORIAL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SCULPT SOCIETY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76895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600" kern="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· MAPEO DE FOTOS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9525">
            <a:solidFill>
              <a:srgbClr val="811D1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6350">
            <a:solidFill>
              <a:srgbClr val="811D16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@sculptsocietycr · sculptsocietycr.com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/ 18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811D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Mapeo de fotos.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77295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822960"/>
                <a:gridCol w="4023360"/>
                <a:gridCol w="2743200"/>
                <a:gridCol w="2560320"/>
                <a:gridCol w="8229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9F5E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#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1D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9F5E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FOTO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1D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9F5E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QUÉ ES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1D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9F5E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FORTALEZA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1D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9F5E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USO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1D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9F5E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PRIORIDAD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1D1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1240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🥇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Warrior frontal, dumbbells abiertas, mirada a cámara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Autoridad de portada de revista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Invitación principal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755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ALTA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1716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🥈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De rodillas en V, puerta arqueada, cielo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Cinematográfica, con capas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Invitación editorial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755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ALTA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1293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🥉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Risa con dumbbells frente a la cara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Personalidad / alegría on-brand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Story teaser, post Y2K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755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ALTA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1708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🏅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De rodillas, brazos arriba, risa grande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Energía, sonrisa contagiosa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Últimos cupos / recordatorio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755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ALTA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1219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◇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Postura cobra, puerta de vidrio arqueada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Cinematográfica, espacio para tipografía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Story full-bleed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11D1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MEDIA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1247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◇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Warrior frontal con bolas de terapia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Gemela de 1240, opción alterna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B-roll, "qué incluye"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11D1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MEDIA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1225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◇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Warrior, dumbbells por encima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Simetría con puerta arqueada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Post de clase / yoga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11D1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MEDIA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1698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◇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Side-bend con reflejo del jardín en espejo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Reflejo = editorial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Story / carrusel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11D1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MEDIA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1221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◇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Down dog hacia la puerta arqueada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Diagonal, foto de transición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Filler de carrusel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BAJA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1277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◇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Lunge con curl de bíceps, media sonrisa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Acción, movimiento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Slide de agenda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BAJA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1694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◇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Estirando con dumbbell levantada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Línea contemplativa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Detalle / countdown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BAJA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1709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◇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Gemela de 1708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Backup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Solo backup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1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BAJA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811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SCULPT SOCIETY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76895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600" kern="0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· DIRECCIÓN CREATIVA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9525">
            <a:solidFill>
              <a:srgbClr val="F9F5ED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6350">
            <a:solidFill>
              <a:srgbClr val="F9F5ED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@sculptsocietycr · sculptsocietycr.com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 / 18</a:t>
            </a:r>
            <a:endParaRPr lang="en-US" sz="800" dirty="0"/>
          </a:p>
        </p:txBody>
      </p:sp>
      <p:pic>
        <p:nvPicPr>
          <p:cNvPr id="8" name="Image 0" descr="/tmp/sculpt-deck/build/img/crop-1240-4x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0" y="914400"/>
            <a:ext cx="4389120" cy="5029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005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0" kern="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 MOOD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1371600"/>
            <a:ext cx="67665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000" i="1" dirty="0">
                <a:solidFill>
                  <a:srgbClr val="F9F5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Glow club.</a:t>
            </a:r>
            <a:endParaRPr lang="en-US" sz="6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0" i="1" dirty="0">
                <a:solidFill>
                  <a:srgbClr val="F9F5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Editorial,</a:t>
            </a:r>
            <a:endParaRPr lang="en-US" sz="6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0" i="1" dirty="0">
                <a:solidFill>
                  <a:srgbClr val="F9F5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pero juguetón.</a:t>
            </a:r>
            <a:endParaRPr lang="en-US" sz="6000" dirty="0"/>
          </a:p>
        </p:txBody>
      </p:sp>
      <p:sp>
        <p:nvSpPr>
          <p:cNvPr id="11" name="Text 8"/>
          <p:cNvSpPr/>
          <p:nvPr/>
        </p:nvSpPr>
        <p:spPr>
          <a:xfrm>
            <a:off x="457200" y="429768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F4BA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es minimalismo zen-Pinterest. La paleta ya es loud — abrazala. Pensá Glossier × Jacquemus × Alo Yoga × una revista de los 2000s, en tono amiga-a-amiga.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548640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editorial · </a:t>
            </a:r>
            <a:pPr indent="0" marL="0">
              <a:buNone/>
            </a:pPr>
            <a:r>
              <a:rPr lang="en-US" sz="1100" spc="600" kern="0" dirty="0">
                <a:solidFill>
                  <a:srgbClr val="F4BA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femenino · </a:t>
            </a:r>
            <a:pPr indent="0" marL="0">
              <a:buNone/>
            </a:pPr>
            <a:r>
              <a:rPr lang="en-US" sz="1100" b="1" spc="600" kern="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aspiracional · </a:t>
            </a:r>
            <a:pPr indent="0" marL="0">
              <a:buNone/>
            </a:pPr>
            <a:r>
              <a:rPr lang="en-US" sz="1100" spc="600" kern="0" dirty="0">
                <a:solidFill>
                  <a:srgbClr val="F4BA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comunidad · </a:t>
            </a:r>
            <a:pPr indent="0" marL="0">
              <a:buNone/>
            </a:pPr>
            <a:r>
              <a:rPr lang="en-US" sz="1100" b="1" spc="600" kern="0" dirty="0">
                <a:solidFill>
                  <a:srgbClr val="D6C77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sparkle.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SCULPT SOCIETY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76895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600" kern="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· PALETA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9525">
            <a:solidFill>
              <a:srgbClr val="811D1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6350">
            <a:solidFill>
              <a:srgbClr val="811D16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@sculptsocietycr · sculptsocietycr.com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/ 18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811D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Paleta.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Seis colores. Máximo tres por pieza. Siempre vino + crema + un acento.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1783080" cy="4114800"/>
          </a:xfrm>
          <a:prstGeom prst="rect">
            <a:avLst/>
          </a:prstGeom>
          <a:solidFill>
            <a:srgbClr val="811D16"/>
          </a:solidFill>
          <a:ln w="12700">
            <a:solidFill>
              <a:srgbClr val="811D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945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6060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F5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#811D16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56692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Dominante. Fondos. Titulares.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0" y="2011680"/>
            <a:ext cx="1783080" cy="4114800"/>
          </a:xfrm>
          <a:prstGeom prst="rect">
            <a:avLst/>
          </a:prstGeom>
          <a:solidFill>
            <a:srgbClr val="E7552C"/>
          </a:solidFill>
          <a:ln w="12700">
            <a:solidFill>
              <a:srgbClr val="E755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21945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0" y="26060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F5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#E7552C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377440" y="56692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Acento. Números. CTAs.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0" y="2011680"/>
            <a:ext cx="1783080" cy="4114800"/>
          </a:xfrm>
          <a:prstGeom prst="rect">
            <a:avLst/>
          </a:prstGeom>
          <a:solidFill>
            <a:srgbClr val="F4BABB"/>
          </a:solidFill>
          <a:ln w="12700">
            <a:solidFill>
              <a:srgbClr val="F4BAB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21945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PINK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0" y="26060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11D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#F4BABB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06240" y="56692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Acento suave. Stories.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0" y="2011680"/>
            <a:ext cx="1783080" cy="4114800"/>
          </a:xfrm>
          <a:prstGeom prst="rect">
            <a:avLst/>
          </a:prstGeom>
          <a:solidFill>
            <a:srgbClr val="F9F5ED"/>
          </a:solidFill>
          <a:ln w="12700">
            <a:solidFill>
              <a:srgbClr val="F9F5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21945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CREAM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0" y="26060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11D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#F9F5ED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35040" y="56692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Fondos. Fondo de texto cuerpo.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772400" y="2011680"/>
            <a:ext cx="1783080" cy="4114800"/>
          </a:xfrm>
          <a:prstGeom prst="rect">
            <a:avLst/>
          </a:prstGeom>
          <a:solidFill>
            <a:srgbClr val="373330"/>
          </a:solidFill>
          <a:ln w="12700">
            <a:solidFill>
              <a:srgbClr val="3733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0" y="21945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CHARCOAL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0" y="26060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F5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#373330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863840" y="56692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Texto cuerpo sobre crema.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601200" y="2011680"/>
            <a:ext cx="1783080" cy="4114800"/>
          </a:xfrm>
          <a:prstGeom prst="rect">
            <a:avLst/>
          </a:prstGeom>
          <a:solidFill>
            <a:srgbClr val="D6C774"/>
          </a:solidFill>
          <a:ln w="12700">
            <a:solidFill>
              <a:srgbClr val="D6C77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0" y="21945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GOLD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01200" y="26060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11D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#D6C774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692640" y="56692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Solo premium. RSVP.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626364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Combinaciones recomendadas:   Vino + Crema + Coral = segura.   Rosa + Vino = juguetona.   Crema + Carbón + Oro = premium.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SCULPT SOCIETY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76895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600" kern="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· TIPOGRAFÍA Y COMPOSICIÓN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9525">
            <a:solidFill>
              <a:srgbClr val="811D1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6350">
            <a:solidFill>
              <a:srgbClr val="811D16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@sculptsocietycr · sculptsocietycr.com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 / 18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811D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Tipografía y reglas.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0" kern="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TIPOGRAFÍA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9659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i="1" dirty="0">
                <a:solidFill>
                  <a:srgbClr val="811D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Display
</a:t>
            </a:r>
            <a:pPr indent="0" marL="0">
              <a:buNone/>
            </a:pPr>
            <a:r>
              <a:rPr lang="en-US" sz="1000" i="1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Migra Italic / Reckless / Tobias · titulares grandes · "Hannah Montana"
</a:t>
            </a:r>
            <a:pPr indent="0" marL="0">
              <a:buNone/>
            </a:pPr>
            <a:r>
              <a:rPr lang="en-US" sz="1400" b="1" spc="400" kern="0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BODY · INTER / DM SANS
</a:t>
            </a:r>
            <a:pPr indent="0" marL="0">
              <a:buNone/>
            </a:pPr>
            <a:r>
              <a:rPr lang="en-US" sz="100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Sans neutra para fechas, horarios, datos. Tracking +50 en mayúsculas pequeñas.
</a:t>
            </a:r>
            <a:pPr indent="0" marL="0">
              <a:buNone/>
            </a:pPr>
            <a:r>
              <a:rPr lang="en-US" sz="8000" b="1" i="1" dirty="0">
                <a:solidFill>
                  <a:srgbClr val="E7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pPr indent="0" marL="0">
              <a:buNone/>
            </a:pPr>
            <a:r>
              <a:rPr lang="en-US" sz="1000" i="1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← Número hero. Coral sobre vino. El thumb-stopper.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6858000" y="1645920"/>
            <a:ext cx="4846320" cy="4572000"/>
          </a:xfrm>
          <a:prstGeom prst="rect">
            <a:avLst/>
          </a:prstGeom>
          <a:solidFill>
            <a:srgbClr val="811D16"/>
          </a:solidFill>
          <a:ln w="12700">
            <a:solidFill>
              <a:srgbClr val="811D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0" y="1828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0" kern="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COMPOSICIÓN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32320" y="21488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9F5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Cinco reglas.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132320" y="27889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7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89520" y="2788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Asimetría, no centrado.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589520" y="30358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4BA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Logo arriba-izquierda chico. Texto izquierda. Foto bleed derecha.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32320" y="34290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7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89520" y="3429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Regla de tercios siempre.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89520" y="36758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4BA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Solo centrá el número hero "13".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32320" y="40690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7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589520" y="4069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 aire es lujo.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589520" y="43159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4BA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Mínimo 12% de margen por lado.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32320" y="4709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7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589520" y="47091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Máximo tres capas.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89520" y="49560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4BA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Foto + tarjeta de info + un acento. Eso es todo.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32320" y="5349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7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589520" y="5349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Esquinas redondeadas.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89520" y="55961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4BA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Radius 16-24px. Bleed total en fondos.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SCULPT SOCIETY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76895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600" kern="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· INVITACIÓN · CONCEPTO 1 /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9525">
            <a:solidFill>
              <a:srgbClr val="811D1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6350">
            <a:solidFill>
              <a:srgbClr val="811D16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@sculptsocietycr · sculptsocietycr.com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 / 18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0" kern="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OPCIÓN 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1430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811D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Editorial Calma.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1783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Minimalista · cream-forward · lujo en susurro. Se lee como página de revista wellness.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194560"/>
            <a:ext cx="2328863" cy="4069080"/>
          </a:xfrm>
          <a:prstGeom prst="roundRect">
            <a:avLst>
              <a:gd name="adj" fmla="val 5890"/>
            </a:avLst>
          </a:prstGeom>
          <a:solidFill>
            <a:srgbClr val="373330"/>
          </a:solidFill>
          <a:ln w="12700">
            <a:solidFill>
              <a:srgbClr val="3733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240280"/>
            <a:ext cx="2237423" cy="3977640"/>
          </a:xfrm>
          <a:prstGeom prst="rect">
            <a:avLst/>
          </a:prstGeom>
          <a:solidFill>
            <a:srgbClr val="F9F5ED"/>
          </a:solidFill>
          <a:ln w="12700">
            <a:solidFill>
              <a:srgbClr val="F9F5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3500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" b="1" spc="300" kern="0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SCULPT</a:t>
            </a:r>
            <a:endParaRPr lang="en-US" sz="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00" b="1" spc="300" kern="0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SOCIETY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777240" y="2880360"/>
            <a:ext cx="196310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b="1" spc="400" kern="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PRÓXIMO EVENTO</a:t>
            </a:r>
            <a:endParaRPr lang="en-US" sz="500" dirty="0"/>
          </a:p>
        </p:txBody>
      </p:sp>
      <p:sp>
        <p:nvSpPr>
          <p:cNvPr id="15" name="Text 13"/>
          <p:cNvSpPr/>
          <p:nvPr/>
        </p:nvSpPr>
        <p:spPr>
          <a:xfrm>
            <a:off x="777240" y="3081528"/>
            <a:ext cx="1963103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811D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Sculpt Society
</a:t>
            </a:r>
            <a:pPr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811D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Hannah Montana
</a:t>
            </a:r>
            <a:pPr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811D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" y="4023360"/>
            <a:ext cx="365760" cy="0"/>
          </a:xfrm>
          <a:prstGeom prst="line">
            <a:avLst/>
          </a:prstGeom>
          <a:noFill/>
          <a:ln w="15240">
            <a:solidFill>
              <a:srgbClr val="E7552C"/>
            </a:solidFill>
            <a:prstDash val="solid"/>
          </a:ln>
        </p:spPr>
      </p:sp>
      <p:pic>
        <p:nvPicPr>
          <p:cNvPr id="17" name="Image 0" descr="/tmp/sculpt-deck/build/img/crop-1716-4x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4114800"/>
            <a:ext cx="1963103" cy="13716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77240" y="5550408"/>
            <a:ext cx="196310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73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· 06 · 26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77240" y="5751576"/>
            <a:ext cx="1963103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spc="300" kern="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10:00 AM · PALOMA STUDIOS · ESCAZÚ</a:t>
            </a:r>
            <a:endParaRPr lang="en-US" sz="500" dirty="0"/>
          </a:p>
        </p:txBody>
      </p:sp>
      <p:sp>
        <p:nvSpPr>
          <p:cNvPr id="20" name="Shape 17"/>
          <p:cNvSpPr/>
          <p:nvPr/>
        </p:nvSpPr>
        <p:spPr>
          <a:xfrm>
            <a:off x="777240" y="5897880"/>
            <a:ext cx="1963103" cy="0"/>
          </a:xfrm>
          <a:prstGeom prst="line">
            <a:avLst/>
          </a:prstGeom>
          <a:noFill/>
          <a:ln w="3810">
            <a:solidFill>
              <a:srgbClr val="811D16">
                <a:alpha val="4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" y="5943600"/>
            <a:ext cx="1963103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b="1" spc="300" kern="0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₡20.000 · CUPOS LIMITADOS</a:t>
            </a:r>
            <a:endParaRPr lang="en-US" sz="500" dirty="0"/>
          </a:p>
        </p:txBody>
      </p:sp>
      <p:sp>
        <p:nvSpPr>
          <p:cNvPr id="22" name="Text 19"/>
          <p:cNvSpPr/>
          <p:nvPr/>
        </p:nvSpPr>
        <p:spPr>
          <a:xfrm>
            <a:off x="777240" y="6080760"/>
            <a:ext cx="1963103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373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RSVP @sculptsocietycr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640080" y="62636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Story 1080×1920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206240" y="2286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CONCEPTO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206240" y="254203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Calma de página de revista. Papel crema, italic display, una foto editorial, aire generoso. El italic "Hannah Montana" susurra — no grita.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206240" y="3611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PALETA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206240" y="3886200"/>
            <a:ext cx="274320" cy="274320"/>
          </a:xfrm>
          <a:prstGeom prst="ellipse">
            <a:avLst/>
          </a:prstGeom>
          <a:solidFill>
            <a:srgbClr val="811D16"/>
          </a:solidFill>
          <a:ln w="3810">
            <a:solidFill>
              <a:srgbClr val="811D1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023360" y="4206240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spc="200" kern="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WINE</a:t>
            </a:r>
            <a:endParaRPr lang="en-US" sz="600" dirty="0"/>
          </a:p>
        </p:txBody>
      </p:sp>
      <p:sp>
        <p:nvSpPr>
          <p:cNvPr id="29" name="Shape 26"/>
          <p:cNvSpPr/>
          <p:nvPr/>
        </p:nvSpPr>
        <p:spPr>
          <a:xfrm>
            <a:off x="4983480" y="3886200"/>
            <a:ext cx="274320" cy="274320"/>
          </a:xfrm>
          <a:prstGeom prst="ellipse">
            <a:avLst/>
          </a:prstGeom>
          <a:solidFill>
            <a:srgbClr val="F9F5ED"/>
          </a:solidFill>
          <a:ln w="3810">
            <a:solidFill>
              <a:srgbClr val="811D1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800600" y="4206240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spc="200" kern="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CREAM</a:t>
            </a:r>
            <a:endParaRPr lang="en-US" sz="600" dirty="0"/>
          </a:p>
        </p:txBody>
      </p:sp>
      <p:sp>
        <p:nvSpPr>
          <p:cNvPr id="31" name="Shape 28"/>
          <p:cNvSpPr/>
          <p:nvPr/>
        </p:nvSpPr>
        <p:spPr>
          <a:xfrm>
            <a:off x="5760720" y="3886200"/>
            <a:ext cx="274320" cy="274320"/>
          </a:xfrm>
          <a:prstGeom prst="ellipse">
            <a:avLst/>
          </a:prstGeom>
          <a:solidFill>
            <a:srgbClr val="E7552C"/>
          </a:solidFill>
          <a:ln w="3810">
            <a:solidFill>
              <a:srgbClr val="811D1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577840" y="4206240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spc="200" kern="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CORAL</a:t>
            </a:r>
            <a:endParaRPr lang="en-US" sz="600" dirty="0"/>
          </a:p>
        </p:txBody>
      </p:sp>
      <p:sp>
        <p:nvSpPr>
          <p:cNvPr id="33" name="Shape 30"/>
          <p:cNvSpPr/>
          <p:nvPr/>
        </p:nvSpPr>
        <p:spPr>
          <a:xfrm>
            <a:off x="6537960" y="3886200"/>
            <a:ext cx="274320" cy="274320"/>
          </a:xfrm>
          <a:prstGeom prst="ellipse">
            <a:avLst/>
          </a:prstGeom>
          <a:solidFill>
            <a:srgbClr val="373330"/>
          </a:solidFill>
          <a:ln w="3810">
            <a:solidFill>
              <a:srgbClr val="811D1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55080" y="4206240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spc="200" kern="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CHARC.</a:t>
            </a:r>
            <a:endParaRPr lang="en-US" sz="600" dirty="0"/>
          </a:p>
        </p:txBody>
      </p:sp>
      <p:sp>
        <p:nvSpPr>
          <p:cNvPr id="35" name="Text 32"/>
          <p:cNvSpPr/>
          <p:nvPr/>
        </p:nvSpPr>
        <p:spPr>
          <a:xfrm>
            <a:off x="4206240" y="4526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TIPOGRAFÍA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206240" y="4773168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Display · Migra Italic / Reckless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Cuerpo · Inter / DM Sans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Numérica · DM Mono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206240" y="5577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FOTO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206240" y="582472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IMG_1716 — de rodillas en V contra puerta arqueada. Calma y aspiracional.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8229600" y="2286000"/>
            <a:ext cx="3502152" cy="4114800"/>
          </a:xfrm>
          <a:prstGeom prst="rect">
            <a:avLst/>
          </a:prstGeom>
          <a:solidFill>
            <a:srgbClr val="811D16"/>
          </a:solidFill>
          <a:ln w="12700">
            <a:solidFill>
              <a:srgbClr val="811D16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412480" y="24688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POR QUÉ FUNCIONA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8412480" y="27432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i="1" dirty="0">
                <a:solidFill>
                  <a:srgbClr val="F9F5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diferencia por silencio.</a:t>
            </a:r>
            <a:endParaRPr lang="en-US" sz="2200" dirty="0"/>
          </a:p>
        </p:txBody>
      </p:sp>
      <p:sp>
        <p:nvSpPr>
          <p:cNvPr id="42" name="Text 39"/>
          <p:cNvSpPr/>
          <p:nvPr/>
        </p:nvSpPr>
        <p:spPr>
          <a:xfrm>
            <a:off x="8412480" y="370332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F4BA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 mayoría del feed grita. Esta pieza para el scroll haciendo lo opuesto — aire, italic, una foto elegante. Se lee como "este evento está curado, no improvisado."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8412480" y="52120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USAR PARA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8412480" y="54406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Posts de save-the-date · stories de countdown · posts recordatorio.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BA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SCULPT SOCIETY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76895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600" kern="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· INVITACIÓN · CONCEPTO 2 /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9525">
            <a:solidFill>
              <a:srgbClr val="811D1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6350">
            <a:solidFill>
              <a:srgbClr val="811D16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@sculptsocietycr · sculptsocietycr.com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 / 18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0" kern="0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OPCIÓN 02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1430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811D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Y2K Brunch Club.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1783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 sparkles · trendy · share-bait. La versión que las asistentes van a repostear en sus stories.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194560"/>
            <a:ext cx="2328863" cy="4069080"/>
          </a:xfrm>
          <a:prstGeom prst="roundRect">
            <a:avLst>
              <a:gd name="adj" fmla="val 5890"/>
            </a:avLst>
          </a:prstGeom>
          <a:solidFill>
            <a:srgbClr val="373330"/>
          </a:solidFill>
          <a:ln w="12700">
            <a:solidFill>
              <a:srgbClr val="3733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240280"/>
            <a:ext cx="2237423" cy="3977640"/>
          </a:xfrm>
          <a:prstGeom prst="rect">
            <a:avLst/>
          </a:prstGeom>
          <a:solidFill>
            <a:srgbClr val="811D16"/>
          </a:solidFill>
          <a:ln w="12700">
            <a:solidFill>
              <a:srgbClr val="811D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514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✦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2606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✦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4434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✦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06040" y="4617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✦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5897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✦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68880" y="5989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✦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2331720"/>
            <a:ext cx="205454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spc="400" kern="0" dirty="0">
                <a:solidFill>
                  <a:srgbClr val="F4BA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✦  glow · move · brunch · sparkle  ✦</a:t>
            </a:r>
            <a:endParaRPr lang="en-US" sz="500" dirty="0"/>
          </a:p>
        </p:txBody>
      </p:sp>
      <p:sp>
        <p:nvSpPr>
          <p:cNvPr id="20" name="Shape 18"/>
          <p:cNvSpPr/>
          <p:nvPr/>
        </p:nvSpPr>
        <p:spPr>
          <a:xfrm>
            <a:off x="972407" y="2551176"/>
            <a:ext cx="1572768" cy="1572768"/>
          </a:xfrm>
          <a:prstGeom prst="ellipse">
            <a:avLst/>
          </a:prstGeom>
          <a:solidFill>
            <a:srgbClr val="E7552C"/>
          </a:solidFill>
          <a:ln w="12700">
            <a:solidFill>
              <a:srgbClr val="E7552C"/>
            </a:solidFill>
            <a:prstDash val="solid"/>
          </a:ln>
        </p:spPr>
      </p:sp>
      <p:pic>
        <p:nvPicPr>
          <p:cNvPr id="21" name="Image 0" descr="/tmp/sculpt-deck/build/img/crop-1293-squar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7271" y="2606040"/>
            <a:ext cx="1463040" cy="146304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31520" y="4251960"/>
            <a:ext cx="205454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9F5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Sculpt Society
</a:t>
            </a:r>
            <a:pPr algn="ctr"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F4B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Hannah Montana
</a:t>
            </a:r>
            <a:pPr algn="ctr"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F4B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Edition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1005840" y="5120640"/>
            <a:ext cx="1505902" cy="0"/>
          </a:xfrm>
          <a:prstGeom prst="line">
            <a:avLst/>
          </a:prstGeom>
          <a:noFill/>
          <a:ln w="15240">
            <a:solidFill>
              <a:srgbClr val="E7552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04672" y="5257800"/>
            <a:ext cx="1908239" cy="713232"/>
          </a:xfrm>
          <a:prstGeom prst="roundRect">
            <a:avLst>
              <a:gd name="adj" fmla="val 6410"/>
            </a:avLst>
          </a:prstGeom>
          <a:solidFill>
            <a:srgbClr val="F9F5ED"/>
          </a:solidFill>
          <a:ln w="12700">
            <a:solidFill>
              <a:srgbClr val="F9F5E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04672" y="5321808"/>
            <a:ext cx="190823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 JUN · 10:00 AM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804672" y="5504688"/>
            <a:ext cx="1908239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Paloma Studios · Escazú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804672" y="5678424"/>
            <a:ext cx="190823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spc="200" kern="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₡20K · cupos limitados ✨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731520" y="5971032"/>
            <a:ext cx="205454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F4B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RSVP → @sculptsocietycr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40080" y="62636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Story 1080×1920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114800" y="2286000"/>
            <a:ext cx="4023360" cy="4114800"/>
          </a:xfrm>
          <a:prstGeom prst="rect">
            <a:avLst/>
          </a:prstGeom>
          <a:solidFill>
            <a:srgbClr val="F9F5ED"/>
          </a:solidFill>
          <a:ln w="12700">
            <a:solidFill>
              <a:srgbClr val="F9F5E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297680" y="2468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CONCEPTO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297680" y="2724912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Hannah Montana, tomado en serio. Sparkles, retrato en óvalo, italic gritado, color block vino + rosa + coral. Nostalgia 2007 recableada para cultura brunch 2026.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297680" y="4023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FOTO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297680" y="4251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IMG_1293 — risa con dumbbells. Personalidad &gt; postura.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297680" y="4937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PALETA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297680" y="5212080"/>
            <a:ext cx="274320" cy="274320"/>
          </a:xfrm>
          <a:prstGeom prst="ellipse">
            <a:avLst/>
          </a:prstGeom>
          <a:solidFill>
            <a:srgbClr val="811D16"/>
          </a:solidFill>
          <a:ln w="3810">
            <a:solidFill>
              <a:srgbClr val="811D1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114800" y="5532120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spc="200" kern="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WINE</a:t>
            </a:r>
            <a:endParaRPr lang="en-US" sz="600" dirty="0"/>
          </a:p>
        </p:txBody>
      </p:sp>
      <p:sp>
        <p:nvSpPr>
          <p:cNvPr id="38" name="Shape 35"/>
          <p:cNvSpPr/>
          <p:nvPr/>
        </p:nvSpPr>
        <p:spPr>
          <a:xfrm>
            <a:off x="5074920" y="5212080"/>
            <a:ext cx="274320" cy="274320"/>
          </a:xfrm>
          <a:prstGeom prst="ellipse">
            <a:avLst/>
          </a:prstGeom>
          <a:solidFill>
            <a:srgbClr val="F4BABB"/>
          </a:solidFill>
          <a:ln w="3810">
            <a:solidFill>
              <a:srgbClr val="811D1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892040" y="5532120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spc="200" kern="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PINK</a:t>
            </a:r>
            <a:endParaRPr lang="en-US" sz="600" dirty="0"/>
          </a:p>
        </p:txBody>
      </p:sp>
      <p:sp>
        <p:nvSpPr>
          <p:cNvPr id="40" name="Shape 37"/>
          <p:cNvSpPr/>
          <p:nvPr/>
        </p:nvSpPr>
        <p:spPr>
          <a:xfrm>
            <a:off x="5852160" y="5212080"/>
            <a:ext cx="274320" cy="274320"/>
          </a:xfrm>
          <a:prstGeom prst="ellipse">
            <a:avLst/>
          </a:prstGeom>
          <a:solidFill>
            <a:srgbClr val="E7552C"/>
          </a:solidFill>
          <a:ln w="3810">
            <a:solidFill>
              <a:srgbClr val="811D1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669280" y="5532120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spc="200" kern="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CORAL</a:t>
            </a:r>
            <a:endParaRPr lang="en-US" sz="600" dirty="0"/>
          </a:p>
        </p:txBody>
      </p:sp>
      <p:sp>
        <p:nvSpPr>
          <p:cNvPr id="42" name="Shape 39"/>
          <p:cNvSpPr/>
          <p:nvPr/>
        </p:nvSpPr>
        <p:spPr>
          <a:xfrm>
            <a:off x="6629400" y="5212080"/>
            <a:ext cx="274320" cy="274320"/>
          </a:xfrm>
          <a:prstGeom prst="ellipse">
            <a:avLst/>
          </a:prstGeom>
          <a:solidFill>
            <a:srgbClr val="F9F5ED"/>
          </a:solidFill>
          <a:ln w="3810">
            <a:solidFill>
              <a:srgbClr val="811D16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446520" y="5532120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spc="200" kern="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CREAM</a:t>
            </a:r>
            <a:endParaRPr lang="en-US" sz="600" dirty="0"/>
          </a:p>
        </p:txBody>
      </p:sp>
      <p:sp>
        <p:nvSpPr>
          <p:cNvPr id="44" name="Shape 41"/>
          <p:cNvSpPr/>
          <p:nvPr/>
        </p:nvSpPr>
        <p:spPr>
          <a:xfrm>
            <a:off x="8229600" y="2286000"/>
            <a:ext cx="3502152" cy="4114800"/>
          </a:xfrm>
          <a:prstGeom prst="rect">
            <a:avLst/>
          </a:prstGeom>
          <a:solidFill>
            <a:srgbClr val="811D16"/>
          </a:solidFill>
          <a:ln w="12700">
            <a:solidFill>
              <a:srgbClr val="811D16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412480" y="24688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POR QUÉ FUNCIONA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8412480" y="27432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i="1" dirty="0">
                <a:solidFill>
                  <a:srgbClr val="F9F5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Hecha para ser reposteada.</a:t>
            </a:r>
            <a:endParaRPr lang="en-US" sz="2200" dirty="0"/>
          </a:p>
        </p:txBody>
      </p:sp>
      <p:sp>
        <p:nvSpPr>
          <p:cNvPr id="47" name="Text 44"/>
          <p:cNvSpPr/>
          <p:nvPr/>
        </p:nvSpPr>
        <p:spPr>
          <a:xfrm>
            <a:off x="8412480" y="370332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F4BA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Las invitaciones más compartidas de 2025-26 tienen personalidad clara y un easter egg visual. Outline coral + sparkle = thumb-stopper. Las chicas la guardan y la comparten.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8412480" y="52120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USAR PARA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8412480" y="54406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Story teaser · últimos cupos · anuncio 24h · frame de repost de asistentes.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SCULPT SOCIETY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76895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600" kern="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· INVITACIÓN · CONCEPTO 3 / 3 · ⭐ RECOMENDADA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9525">
            <a:solidFill>
              <a:srgbClr val="811D1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6350">
            <a:solidFill>
              <a:srgbClr val="811D16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@sculptsocietycr · sculptsocietycr.com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/ 18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0" kern="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OPCIÓN 03   ·   ⭐ MI ELECCIÓN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1430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811D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Portada de revista.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1783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Editorial premium. Se lee como portada de Vogue. La fecha como hero. Imprimible.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240280"/>
            <a:ext cx="3456432" cy="4297680"/>
          </a:xfrm>
          <a:prstGeom prst="roundRect">
            <a:avLst>
              <a:gd name="adj" fmla="val 2646"/>
            </a:avLst>
          </a:prstGeom>
          <a:solidFill>
            <a:srgbClr val="373330"/>
          </a:solidFill>
          <a:ln w="12700">
            <a:solidFill>
              <a:srgbClr val="3733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286000"/>
            <a:ext cx="3364992" cy="4206240"/>
          </a:xfrm>
          <a:prstGeom prst="rect">
            <a:avLst/>
          </a:prstGeom>
          <a:solidFill>
            <a:srgbClr val="F9F5ED"/>
          </a:solidFill>
          <a:ln w="12700">
            <a:solidFill>
              <a:srgbClr val="F9F5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377440"/>
            <a:ext cx="31821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600" kern="0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SCULPT SOCIETY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731520" y="2377440"/>
            <a:ext cx="31821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spc="400" kern="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ISSUE 03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731520" y="2578608"/>
            <a:ext cx="3182112" cy="0"/>
          </a:xfrm>
          <a:prstGeom prst="line">
            <a:avLst/>
          </a:prstGeom>
          <a:noFill/>
          <a:ln w="6350">
            <a:solidFill>
              <a:srgbClr val="811D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69748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0" b="1" i="1" dirty="0">
                <a:solidFill>
                  <a:srgbClr val="E7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7000" dirty="0"/>
          </a:p>
        </p:txBody>
      </p:sp>
      <p:sp>
        <p:nvSpPr>
          <p:cNvPr id="17" name="Text 15"/>
          <p:cNvSpPr/>
          <p:nvPr/>
        </p:nvSpPr>
        <p:spPr>
          <a:xfrm>
            <a:off x="777240" y="3794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11D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Junio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404164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600" kern="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2026</a:t>
            </a:r>
            <a:endParaRPr lang="en-US" sz="700" dirty="0"/>
          </a:p>
        </p:txBody>
      </p:sp>
      <p:pic>
        <p:nvPicPr>
          <p:cNvPr id="19" name="Image 0" descr="/tmp/sculpt-deck/build/img/crop-1240-4x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24912" y="2788920"/>
            <a:ext cx="1143000" cy="14173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31520" y="4297680"/>
            <a:ext cx="3182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811D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Hannah Montana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731520" y="4617720"/>
            <a:ext cx="3182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edition —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31520" y="5029200"/>
            <a:ext cx="3182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Yoga Sculpt · Brunch · Bedazzling Bar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731520" y="5257800"/>
            <a:ext cx="1645920" cy="0"/>
          </a:xfrm>
          <a:prstGeom prst="line">
            <a:avLst/>
          </a:prstGeom>
          <a:noFill/>
          <a:ln w="12700">
            <a:solidFill>
              <a:srgbClr val="E7552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5349240"/>
            <a:ext cx="31821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10:00 AM · ₡20.000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31520" y="5532120"/>
            <a:ext cx="31821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Paloma Studios · Escazú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731520" y="5696712"/>
            <a:ext cx="31821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Cupos limitados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731520" y="6126480"/>
            <a:ext cx="3182112" cy="0"/>
          </a:xfrm>
          <a:prstGeom prst="line">
            <a:avLst/>
          </a:prstGeom>
          <a:noFill/>
          <a:ln w="5080">
            <a:solidFill>
              <a:srgbClr val="811D16">
                <a:alpha val="5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31520" y="6172200"/>
            <a:ext cx="3182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11D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RSVP @sculptsocietycr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31520" y="6172200"/>
            <a:ext cx="3182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spc="400" kern="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sculptsocietycr.com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640080" y="6263640"/>
            <a:ext cx="3364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Feed 1080×1350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526280" y="2194560"/>
            <a:ext cx="2328863" cy="4069080"/>
          </a:xfrm>
          <a:prstGeom prst="roundRect">
            <a:avLst>
              <a:gd name="adj" fmla="val 5890"/>
            </a:avLst>
          </a:prstGeom>
          <a:solidFill>
            <a:srgbClr val="373330"/>
          </a:solidFill>
          <a:ln w="12700">
            <a:solidFill>
              <a:srgbClr val="37333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572000" y="2240280"/>
            <a:ext cx="2237423" cy="3977640"/>
          </a:xfrm>
          <a:prstGeom prst="rect">
            <a:avLst/>
          </a:prstGeom>
          <a:solidFill>
            <a:srgbClr val="F9F5ED"/>
          </a:solidFill>
          <a:ln w="12700">
            <a:solidFill>
              <a:srgbClr val="F9F5E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681728" y="2350008"/>
            <a:ext cx="1280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b="1" spc="400" kern="0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SCULPT SOCIETY</a:t>
            </a:r>
            <a:endParaRPr lang="en-US" sz="500" dirty="0"/>
          </a:p>
        </p:txBody>
      </p:sp>
      <p:sp>
        <p:nvSpPr>
          <p:cNvPr id="34" name="Text 31"/>
          <p:cNvSpPr/>
          <p:nvPr/>
        </p:nvSpPr>
        <p:spPr>
          <a:xfrm>
            <a:off x="5437823" y="2350008"/>
            <a:ext cx="1280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" spc="300" kern="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ISSUE 03 · CR</a:t>
            </a:r>
            <a:endParaRPr lang="en-US" sz="400" dirty="0"/>
          </a:p>
        </p:txBody>
      </p:sp>
      <p:sp>
        <p:nvSpPr>
          <p:cNvPr id="35" name="Shape 32"/>
          <p:cNvSpPr/>
          <p:nvPr/>
        </p:nvSpPr>
        <p:spPr>
          <a:xfrm>
            <a:off x="4681728" y="2532888"/>
            <a:ext cx="2017967" cy="0"/>
          </a:xfrm>
          <a:prstGeom prst="line">
            <a:avLst/>
          </a:prstGeom>
          <a:noFill/>
          <a:ln w="3810">
            <a:solidFill>
              <a:srgbClr val="811D1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663440" y="2606040"/>
            <a:ext cx="205454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i="1" dirty="0">
                <a:solidFill>
                  <a:srgbClr val="E7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8000" dirty="0"/>
          </a:p>
        </p:txBody>
      </p:sp>
      <p:sp>
        <p:nvSpPr>
          <p:cNvPr id="37" name="Text 34"/>
          <p:cNvSpPr/>
          <p:nvPr/>
        </p:nvSpPr>
        <p:spPr>
          <a:xfrm>
            <a:off x="4663440" y="4114800"/>
            <a:ext cx="20545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11D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Junio · 2026</a:t>
            </a:r>
            <a:endParaRPr lang="en-US" sz="1100" dirty="0"/>
          </a:p>
        </p:txBody>
      </p:sp>
      <p:pic>
        <p:nvPicPr>
          <p:cNvPr id="38" name="Image 1" descr="/tmp/sculpt-deck/build/img/crop-1240-4x5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9160" y="4480560"/>
            <a:ext cx="1963103" cy="1188720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4663440" y="5760720"/>
            <a:ext cx="205454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11D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Hannah Montana edition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4663440" y="5961888"/>
            <a:ext cx="205454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spc="200" kern="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10:00 AM · ₡20.000</a:t>
            </a:r>
            <a:endParaRPr lang="en-US" sz="500" dirty="0"/>
          </a:p>
        </p:txBody>
      </p:sp>
      <p:sp>
        <p:nvSpPr>
          <p:cNvPr id="41" name="Text 37"/>
          <p:cNvSpPr/>
          <p:nvPr/>
        </p:nvSpPr>
        <p:spPr>
          <a:xfrm>
            <a:off x="4663440" y="6044184"/>
            <a:ext cx="205454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" spc="200" kern="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Paloma Studios · Escazú</a:t>
            </a:r>
            <a:endParaRPr lang="en-US" sz="400" dirty="0"/>
          </a:p>
        </p:txBody>
      </p:sp>
      <p:sp>
        <p:nvSpPr>
          <p:cNvPr id="42" name="Text 38"/>
          <p:cNvSpPr/>
          <p:nvPr/>
        </p:nvSpPr>
        <p:spPr>
          <a:xfrm>
            <a:off x="4572000" y="62636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Story 1080×1920</a:t>
            </a:r>
            <a:endParaRPr lang="en-US" sz="800" dirty="0"/>
          </a:p>
        </p:txBody>
      </p:sp>
      <p:sp>
        <p:nvSpPr>
          <p:cNvPr id="43" name="Shape 39"/>
          <p:cNvSpPr/>
          <p:nvPr/>
        </p:nvSpPr>
        <p:spPr>
          <a:xfrm>
            <a:off x="7315200" y="2286000"/>
            <a:ext cx="4416552" cy="4114800"/>
          </a:xfrm>
          <a:prstGeom prst="rect">
            <a:avLst/>
          </a:prstGeom>
          <a:solidFill>
            <a:srgbClr val="811D16"/>
          </a:solidFill>
          <a:ln w="12700">
            <a:solidFill>
              <a:srgbClr val="811D1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7498080" y="24688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 ELEGIDA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7498080" y="27432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F9F5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ve cara.</a:t>
            </a:r>
            <a:endParaRPr lang="en-US" sz="2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F9F5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lee en 0.5s.</a:t>
            </a:r>
            <a:endParaRPr lang="en-US" sz="2600" dirty="0"/>
          </a:p>
        </p:txBody>
      </p:sp>
      <p:sp>
        <p:nvSpPr>
          <p:cNvPr id="46" name="Text 42"/>
          <p:cNvSpPr/>
          <p:nvPr/>
        </p:nvSpPr>
        <p:spPr>
          <a:xfrm>
            <a:off x="7498080" y="39319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Por qué gana: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7498080" y="4206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✦  La fecha es inconfundible — número-como-hero para el scroll.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7498080" y="44988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✦  Estructura editorial (masthead + cover line) se lee como curada.</a:t>
            </a:r>
            <a:endParaRPr lang="en-US" sz="1000" dirty="0"/>
          </a:p>
        </p:txBody>
      </p:sp>
      <p:sp>
        <p:nvSpPr>
          <p:cNvPr id="49" name="Text 45"/>
          <p:cNvSpPr/>
          <p:nvPr/>
        </p:nvSpPr>
        <p:spPr>
          <a:xfrm>
            <a:off x="7498080" y="479145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✦  El italic guiña a Hannah Montana sin caer en kitsch.</a:t>
            </a:r>
            <a:endParaRPr lang="en-US" sz="1000" dirty="0"/>
          </a:p>
        </p:txBody>
      </p:sp>
      <p:sp>
        <p:nvSpPr>
          <p:cNvPr id="50" name="Text 46"/>
          <p:cNvSpPr/>
          <p:nvPr/>
        </p:nvSpPr>
        <p:spPr>
          <a:xfrm>
            <a:off x="7498080" y="508406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✦  Imprimible directo como tarjeta física.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7498080" y="53766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✦  IMG_1240 tiene contacto visual = confianza.</a:t>
            </a:r>
            <a:endParaRPr lang="en-US" sz="1000" dirty="0"/>
          </a:p>
        </p:txBody>
      </p:sp>
      <p:sp>
        <p:nvSpPr>
          <p:cNvPr id="52" name="Shape 48"/>
          <p:cNvSpPr/>
          <p:nvPr/>
        </p:nvSpPr>
        <p:spPr>
          <a:xfrm>
            <a:off x="7498080" y="5852160"/>
            <a:ext cx="4114800" cy="0"/>
          </a:xfrm>
          <a:prstGeom prst="line">
            <a:avLst/>
          </a:prstGeom>
          <a:noFill/>
          <a:ln w="6350">
            <a:solidFill>
              <a:srgbClr val="E7552C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7498080" y="594360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FOTO  ·  IMG_1240</a:t>
            </a:r>
            <a:endParaRPr lang="en-US" sz="900" dirty="0"/>
          </a:p>
        </p:txBody>
      </p:sp>
      <p:sp>
        <p:nvSpPr>
          <p:cNvPr id="54" name="Text 50"/>
          <p:cNvSpPr/>
          <p:nvPr/>
        </p:nvSpPr>
        <p:spPr>
          <a:xfrm>
            <a:off x="7498080" y="6126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BA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Warrior frontal · contacto visual · energía de portada.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SCULPT SOCIETY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76895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600" kern="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· COMPARACIÓN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9525">
            <a:solidFill>
              <a:srgbClr val="811D1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6350">
            <a:solidFill>
              <a:srgbClr val="811D16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@sculptsocietycr · sculptsocietycr.com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 / 18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811D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opciones, lado a lado.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77295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377440"/>
                <a:gridCol w="2377440"/>
                <a:gridCol w="237744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400" kern="0" dirty="0">
                          <a:solidFill>
                            <a:srgbClr val="F9F5E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CRITERIO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1D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400" kern="0" dirty="0">
                          <a:solidFill>
                            <a:srgbClr val="F9F5E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OPC 1 · CALMA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1D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400" kern="0" dirty="0">
                          <a:solidFill>
                            <a:srgbClr val="F9F5E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OPC 2 · Y2K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1D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400" kern="0" dirty="0">
                          <a:solidFill>
                            <a:srgbClr val="F9F5E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OPC 3 · MAGAZINE ⭐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1D1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733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Sensación premium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733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●●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733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●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755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●●●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733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Personalidad / voz de marca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733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●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733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●●●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755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●●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733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Reposteable / share-bait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733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●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733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●●●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755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●●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733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Para el scroll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733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●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733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●●●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755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●●●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733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Imprimible (físico)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733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●●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733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●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755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●●●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733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Comunica fecha rápido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733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●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733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●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755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●●●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733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 diferencia en feed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733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●●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733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●●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755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●●●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733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Fit con la marca (Sculpt Society)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733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●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733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●●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7552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●●●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5897880"/>
            <a:ext cx="11277295" cy="548640"/>
          </a:xfrm>
          <a:prstGeom prst="rect">
            <a:avLst/>
          </a:prstGeom>
          <a:solidFill>
            <a:srgbClr val="E7552C"/>
          </a:solidFill>
          <a:ln w="12700">
            <a:solidFill>
              <a:srgbClr val="E7552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58978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9F5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Veredicto — lanzá la Opción 3 como pieza principal. Usá Opción 2 para stories. Usá Opción 1 para countdown.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SCULPT SOCIETY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76895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600" kern="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· BIBLIOTECA DE COPYS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9525">
            <a:solidFill>
              <a:srgbClr val="811D1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6350">
            <a:solidFill>
              <a:srgbClr val="811D16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@sculptsocietycr · sculptsocietycr.com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 / 18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811D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Biblioteca de copys.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Elegí, copiá y pegá. Todo on-brand.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365760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20240"/>
            <a:ext cx="3657600" cy="54864"/>
          </a:xfrm>
          <a:prstGeom prst="rect">
            <a:avLst/>
          </a:prstGeom>
          <a:solidFill>
            <a:srgbClr val="E7552C"/>
          </a:solidFill>
          <a:ln w="12700">
            <a:solidFill>
              <a:srgbClr val="E755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02996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STORY · corto swipe-up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4360" y="2286000"/>
            <a:ext cx="33832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sculpt society, hannah montana edition. 13/06 · 10am · paloma studios · cupos limitados. tap → @sculptsocietycr ✦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61688" y="1920240"/>
            <a:ext cx="365760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61688" y="1920240"/>
            <a:ext cx="3657600" cy="54864"/>
          </a:xfrm>
          <a:prstGeom prst="rect">
            <a:avLst/>
          </a:prstGeom>
          <a:solidFill>
            <a:srgbClr val="811D16"/>
          </a:solidFill>
          <a:ln w="12700">
            <a:solidFill>
              <a:srgbClr val="811D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8848" y="202996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CAPTION · elegante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498848" y="2286000"/>
            <a:ext cx="33832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Sculpt Society — Hannah Montana Edition.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Una mañana para moverte, conectar y brillar. Yoga Sculpt, brunch entre amigas, Bedazzling Bar y sorpresitas curadas con cariño.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 de junio · 10:00 a.m. · Paloma Studios, Escazú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₡20.000 · cupos limitados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Reservá tu lugar en sculptsocietycr.com o por DM. ✦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266176" y="1920240"/>
            <a:ext cx="365760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66176" y="1920240"/>
            <a:ext cx="3657600" cy="54864"/>
          </a:xfrm>
          <a:prstGeom prst="rect">
            <a:avLst/>
          </a:prstGeom>
          <a:solidFill>
            <a:srgbClr val="F4BABB"/>
          </a:solidFill>
          <a:ln w="12700">
            <a:solidFill>
              <a:srgbClr val="F4BAB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03336" y="202996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F4BA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CAPTION · voz de bestie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403336" y="2286000"/>
            <a:ext cx="33832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aviso para mis amigas y para tus amigas que aún no conocemos: 🫶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nuestra próxima edición es Hannah Montana y va a ser ICÓNICA. movimiento, brunch, bedazzling bar (sí, brillos), risas y mañana entera entre mujeres lindas.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📍 paloma studios, escazú · 📅 13 de junio, 10am · 💸 ₡20.000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link en bio o DM ✨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4251960"/>
            <a:ext cx="365760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251960"/>
            <a:ext cx="3657600" cy="54864"/>
          </a:xfrm>
          <a:prstGeom prst="rect">
            <a:avLst/>
          </a:prstGeom>
          <a:solidFill>
            <a:srgbClr val="E7552C"/>
          </a:solidFill>
          <a:ln w="12700">
            <a:solidFill>
              <a:srgbClr val="E755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36168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URGENCIA · últimos cupos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94360" y="4617720"/>
            <a:ext cx="33832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quedan pocos cupos. el 13 de junio cerramos la lista de Hannah Montana Edition y no abrimos más ✨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 lo estabas pensando — esta es la señal.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reservá ahora: link en bio o DM.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61688" y="4251960"/>
            <a:ext cx="365760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61688" y="4251960"/>
            <a:ext cx="3657600" cy="54864"/>
          </a:xfrm>
          <a:prstGeom prst="rect">
            <a:avLst/>
          </a:prstGeom>
          <a:solidFill>
            <a:srgbClr val="D6C774"/>
          </a:solidFill>
          <a:ln w="12700">
            <a:solidFill>
              <a:srgbClr val="D6C77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98848" y="436168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D6C77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WHATSAPP · DM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498848" y="4617720"/>
            <a:ext cx="33832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✨ Hola! Ya abrimos inscripciones para Sculpt Society — Hannah Montana Edition 🌸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📅 13 de junio · 10:00 a.m.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📍 Paloma Studios, Escazú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💸 ₡20.000 (yoga + brunch + bedazzling)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Cupos súper limitados. Si te animás te paso el link 💖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266176" y="4251960"/>
            <a:ext cx="365760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66176" y="4251960"/>
            <a:ext cx="3657600" cy="54864"/>
          </a:xfrm>
          <a:prstGeom prst="rect">
            <a:avLst/>
          </a:prstGeom>
          <a:solidFill>
            <a:srgbClr val="811D16"/>
          </a:solidFill>
          <a:ln w="12700">
            <a:solidFill>
              <a:srgbClr val="811D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03336" y="436168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HOOKS · primer renglón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403336" y="4617720"/>
            <a:ext cx="33832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"ponete los wristbands, llegó la edición Hannah Montana 🌸"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"una mañana, tres amigas, mucha mujer linda."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"esto no es una clase. es una mañana entera."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"te quiero invitar a que te pongas linda y vengas."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"13 de junio. ya sabés."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SCULPT SOCIETY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76895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600" kern="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 · MINI-CAMPAÑA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9525">
            <a:solidFill>
              <a:srgbClr val="811D1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6350">
            <a:solidFill>
              <a:srgbClr val="811D16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@sculptsocietycr · sculptsocietycr.com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 / 18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811D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semanas. Ocho piezas.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Lanzamiento sugerido empezando ≈ 23 de mayo (3 semanas antes del 13 de junio).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278892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DB8"/>
            </a:solidFill>
            <a:prstDash val="solid"/>
          </a:ln>
        </p:spPr>
      </p:sp>
      <p:pic>
        <p:nvPicPr>
          <p:cNvPr id="11" name="Image 0" descr="/tmp/sculpt-deck/build/img/crop-1716-4x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103120"/>
            <a:ext cx="914400" cy="11430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54480" y="21031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7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331720" y="212140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spc="400" kern="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D-21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1554480" y="230428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Post teaser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554480" y="2578608"/>
            <a:ext cx="1600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Feed 1080×1350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554480" y="27889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Misterio + expectativa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48640" y="3291840"/>
            <a:ext cx="2606040" cy="0"/>
          </a:xfrm>
          <a:prstGeom prst="line">
            <a:avLst/>
          </a:prstGeom>
          <a:noFill/>
          <a:ln w="5080">
            <a:solidFill>
              <a:srgbClr val="D8CDB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3337560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spc="400" kern="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TEXTO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548640" y="349300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"coming soon. 13.06.26."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392424" y="2011680"/>
            <a:ext cx="278892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DB8"/>
            </a:solidFill>
            <a:prstDash val="solid"/>
          </a:ln>
        </p:spPr>
      </p:sp>
      <p:pic>
        <p:nvPicPr>
          <p:cNvPr id="21" name="Image 1" descr="/tmp/sculpt-deck/build/img/crop-1293-4x5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83864" y="2103120"/>
            <a:ext cx="914400" cy="11430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489704" y="21031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7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5266944" y="212140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spc="400" kern="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D-20</a:t>
            </a:r>
            <a:endParaRPr lang="en-US" sz="700" dirty="0"/>
          </a:p>
        </p:txBody>
      </p:sp>
      <p:sp>
        <p:nvSpPr>
          <p:cNvPr id="24" name="Text 20"/>
          <p:cNvSpPr/>
          <p:nvPr/>
        </p:nvSpPr>
        <p:spPr>
          <a:xfrm>
            <a:off x="4489704" y="230428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Story teaser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4489704" y="2578608"/>
            <a:ext cx="1600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Story 1080×1920</a:t>
            </a:r>
            <a:endParaRPr lang="en-US" sz="700" dirty="0"/>
          </a:p>
        </p:txBody>
      </p:sp>
      <p:sp>
        <p:nvSpPr>
          <p:cNvPr id="26" name="Text 22"/>
          <p:cNvSpPr/>
          <p:nvPr/>
        </p:nvSpPr>
        <p:spPr>
          <a:xfrm>
            <a:off x="4489704" y="27889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Engagement, anticipar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3483864" y="3291840"/>
            <a:ext cx="2606040" cy="0"/>
          </a:xfrm>
          <a:prstGeom prst="line">
            <a:avLst/>
          </a:prstGeom>
          <a:noFill/>
          <a:ln w="5080">
            <a:solidFill>
              <a:srgbClr val="D8CDB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483864" y="3337560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spc="400" kern="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TEXTO</a:t>
            </a:r>
            <a:endParaRPr lang="en-US" sz="600" dirty="0"/>
          </a:p>
        </p:txBody>
      </p:sp>
      <p:sp>
        <p:nvSpPr>
          <p:cNvPr id="29" name="Text 25"/>
          <p:cNvSpPr/>
          <p:nvPr/>
        </p:nvSpPr>
        <p:spPr>
          <a:xfrm>
            <a:off x="3483864" y="349300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"GUESS WHAT" + sticker poll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6327648" y="2011680"/>
            <a:ext cx="278892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DB8"/>
            </a:solidFill>
            <a:prstDash val="solid"/>
          </a:ln>
        </p:spPr>
      </p:sp>
      <p:pic>
        <p:nvPicPr>
          <p:cNvPr id="31" name="Image 2" descr="/tmp/sculpt-deck/build/img/crop-1219-4x5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19088" y="2103120"/>
            <a:ext cx="914400" cy="114300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7424928" y="21031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7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8202168" y="212140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spc="400" kern="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D-18</a:t>
            </a:r>
            <a:endParaRPr lang="en-US" sz="700" dirty="0"/>
          </a:p>
        </p:txBody>
      </p:sp>
      <p:sp>
        <p:nvSpPr>
          <p:cNvPr id="34" name="Text 29"/>
          <p:cNvSpPr/>
          <p:nvPr/>
        </p:nvSpPr>
        <p:spPr>
          <a:xfrm>
            <a:off x="7424928" y="230428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Carrusel "qué es SS"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7424928" y="2578608"/>
            <a:ext cx="1600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Feed 6 slides</a:t>
            </a:r>
            <a:endParaRPr lang="en-US" sz="700" dirty="0"/>
          </a:p>
        </p:txBody>
      </p:sp>
      <p:sp>
        <p:nvSpPr>
          <p:cNvPr id="36" name="Text 31"/>
          <p:cNvSpPr/>
          <p:nvPr/>
        </p:nvSpPr>
        <p:spPr>
          <a:xfrm>
            <a:off x="7424928" y="27889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Educar audiencias nuevas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6419088" y="3291840"/>
            <a:ext cx="2606040" cy="0"/>
          </a:xfrm>
          <a:prstGeom prst="line">
            <a:avLst/>
          </a:prstGeom>
          <a:noFill/>
          <a:ln w="5080">
            <a:solidFill>
              <a:srgbClr val="D8CDB8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419088" y="3337560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spc="400" kern="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TEXTO</a:t>
            </a:r>
            <a:endParaRPr lang="en-US" sz="600" dirty="0"/>
          </a:p>
        </p:txBody>
      </p:sp>
      <p:sp>
        <p:nvSpPr>
          <p:cNvPr id="39" name="Text 34"/>
          <p:cNvSpPr/>
          <p:nvPr/>
        </p:nvSpPr>
        <p:spPr>
          <a:xfrm>
            <a:off x="6419088" y="349300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movimiento · amigas · brillar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9262872" y="2011680"/>
            <a:ext cx="278892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DB8"/>
            </a:solidFill>
            <a:prstDash val="solid"/>
          </a:ln>
        </p:spPr>
      </p:sp>
      <p:pic>
        <p:nvPicPr>
          <p:cNvPr id="41" name="Image 3" descr="/tmp/sculpt-deck/build/img/crop-1247-4x5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354312" y="2103120"/>
            <a:ext cx="914400" cy="114300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10360152" y="21031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7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43" name="Text 37"/>
          <p:cNvSpPr/>
          <p:nvPr/>
        </p:nvSpPr>
        <p:spPr>
          <a:xfrm>
            <a:off x="11137392" y="212140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spc="400" kern="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D-14</a:t>
            </a:r>
            <a:endParaRPr lang="en-US" sz="700" dirty="0"/>
          </a:p>
        </p:txBody>
      </p:sp>
      <p:sp>
        <p:nvSpPr>
          <p:cNvPr id="44" name="Text 38"/>
          <p:cNvSpPr/>
          <p:nvPr/>
        </p:nvSpPr>
        <p:spPr>
          <a:xfrm>
            <a:off x="10360152" y="230428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Post "qué incluye"</a:t>
            </a:r>
            <a:endParaRPr lang="en-US" sz="1100" dirty="0"/>
          </a:p>
        </p:txBody>
      </p:sp>
      <p:sp>
        <p:nvSpPr>
          <p:cNvPr id="45" name="Text 39"/>
          <p:cNvSpPr/>
          <p:nvPr/>
        </p:nvSpPr>
        <p:spPr>
          <a:xfrm>
            <a:off x="10360152" y="2578608"/>
            <a:ext cx="1600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Feed 1080×1350</a:t>
            </a:r>
            <a:endParaRPr lang="en-US" sz="700" dirty="0"/>
          </a:p>
        </p:txBody>
      </p:sp>
      <p:sp>
        <p:nvSpPr>
          <p:cNvPr id="46" name="Text 40"/>
          <p:cNvSpPr/>
          <p:nvPr/>
        </p:nvSpPr>
        <p:spPr>
          <a:xfrm>
            <a:off x="10360152" y="27889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Bajar fricción · valor</a:t>
            </a:r>
            <a:endParaRPr lang="en-US" sz="800" dirty="0"/>
          </a:p>
        </p:txBody>
      </p:sp>
      <p:sp>
        <p:nvSpPr>
          <p:cNvPr id="47" name="Shape 41"/>
          <p:cNvSpPr/>
          <p:nvPr/>
        </p:nvSpPr>
        <p:spPr>
          <a:xfrm>
            <a:off x="9354312" y="3291840"/>
            <a:ext cx="2606040" cy="0"/>
          </a:xfrm>
          <a:prstGeom prst="line">
            <a:avLst/>
          </a:prstGeom>
          <a:noFill/>
          <a:ln w="5080">
            <a:solidFill>
              <a:srgbClr val="D8CDB8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9354312" y="3337560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spc="400" kern="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TEXTO</a:t>
            </a:r>
            <a:endParaRPr lang="en-US" sz="600" dirty="0"/>
          </a:p>
        </p:txBody>
      </p:sp>
      <p:sp>
        <p:nvSpPr>
          <p:cNvPr id="49" name="Text 43"/>
          <p:cNvSpPr/>
          <p:nvPr/>
        </p:nvSpPr>
        <p:spPr>
          <a:xfrm>
            <a:off x="9354312" y="349300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Yoga · Brunch · Bedazzling</a:t>
            </a:r>
            <a:endParaRPr lang="en-US" sz="800" dirty="0"/>
          </a:p>
        </p:txBody>
      </p:sp>
      <p:sp>
        <p:nvSpPr>
          <p:cNvPr id="50" name="Shape 44"/>
          <p:cNvSpPr/>
          <p:nvPr/>
        </p:nvSpPr>
        <p:spPr>
          <a:xfrm>
            <a:off x="457200" y="4187952"/>
            <a:ext cx="278892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DB8"/>
            </a:solidFill>
            <a:prstDash val="solid"/>
          </a:ln>
        </p:spPr>
      </p:sp>
      <p:pic>
        <p:nvPicPr>
          <p:cNvPr id="51" name="Image 4" descr="/tmp/sculpt-deck/build/img/crop-1716-4x5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48640" y="4279392"/>
            <a:ext cx="914400" cy="1143000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1554480" y="427939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7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" dirty="0"/>
          </a:p>
        </p:txBody>
      </p:sp>
      <p:sp>
        <p:nvSpPr>
          <p:cNvPr id="53" name="Text 46"/>
          <p:cNvSpPr/>
          <p:nvPr/>
        </p:nvSpPr>
        <p:spPr>
          <a:xfrm>
            <a:off x="2331720" y="429768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spc="400" kern="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D-10 → D-1</a:t>
            </a:r>
            <a:endParaRPr lang="en-US" sz="700" dirty="0"/>
          </a:p>
        </p:txBody>
      </p:sp>
      <p:sp>
        <p:nvSpPr>
          <p:cNvPr id="54" name="Text 47"/>
          <p:cNvSpPr/>
          <p:nvPr/>
        </p:nvSpPr>
        <p:spPr>
          <a:xfrm>
            <a:off x="1554480" y="44805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Story countdown</a:t>
            </a:r>
            <a:endParaRPr lang="en-US" sz="1100" dirty="0"/>
          </a:p>
        </p:txBody>
      </p:sp>
      <p:sp>
        <p:nvSpPr>
          <p:cNvPr id="55" name="Text 48"/>
          <p:cNvSpPr/>
          <p:nvPr/>
        </p:nvSpPr>
        <p:spPr>
          <a:xfrm>
            <a:off x="1554480" y="4754880"/>
            <a:ext cx="1600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Story 1080×1920</a:t>
            </a:r>
            <a:endParaRPr lang="en-US" sz="700" dirty="0"/>
          </a:p>
        </p:txBody>
      </p:sp>
      <p:sp>
        <p:nvSpPr>
          <p:cNvPr id="56" name="Text 49"/>
          <p:cNvSpPr/>
          <p:nvPr/>
        </p:nvSpPr>
        <p:spPr>
          <a:xfrm>
            <a:off x="1554480" y="496519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Recordatorio diario</a:t>
            </a:r>
            <a:endParaRPr lang="en-US" sz="800" dirty="0"/>
          </a:p>
        </p:txBody>
      </p:sp>
      <p:sp>
        <p:nvSpPr>
          <p:cNvPr id="57" name="Shape 50"/>
          <p:cNvSpPr/>
          <p:nvPr/>
        </p:nvSpPr>
        <p:spPr>
          <a:xfrm>
            <a:off x="548640" y="5468112"/>
            <a:ext cx="2606040" cy="0"/>
          </a:xfrm>
          <a:prstGeom prst="line">
            <a:avLst/>
          </a:prstGeom>
          <a:noFill/>
          <a:ln w="5080">
            <a:solidFill>
              <a:srgbClr val="D8CDB8"/>
            </a:solidFill>
            <a:prstDash val="solid"/>
          </a:ln>
        </p:spPr>
      </p:sp>
      <p:sp>
        <p:nvSpPr>
          <p:cNvPr id="58" name="Text 51"/>
          <p:cNvSpPr/>
          <p:nvPr/>
        </p:nvSpPr>
        <p:spPr>
          <a:xfrm>
            <a:off x="548640" y="5513832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spc="400" kern="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TEXTO</a:t>
            </a:r>
            <a:endParaRPr lang="en-US" sz="600" dirty="0"/>
          </a:p>
        </p:txBody>
      </p:sp>
      <p:sp>
        <p:nvSpPr>
          <p:cNvPr id="59" name="Text 52"/>
          <p:cNvSpPr/>
          <p:nvPr/>
        </p:nvSpPr>
        <p:spPr>
          <a:xfrm>
            <a:off x="548640" y="5669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"13 días" "10 días" "1 semana"</a:t>
            </a:r>
            <a:endParaRPr lang="en-US" sz="800" dirty="0"/>
          </a:p>
        </p:txBody>
      </p:sp>
      <p:sp>
        <p:nvSpPr>
          <p:cNvPr id="60" name="Shape 53"/>
          <p:cNvSpPr/>
          <p:nvPr/>
        </p:nvSpPr>
        <p:spPr>
          <a:xfrm>
            <a:off x="3392424" y="4187952"/>
            <a:ext cx="278892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DB8"/>
            </a:solidFill>
            <a:prstDash val="solid"/>
          </a:ln>
        </p:spPr>
      </p:sp>
      <p:pic>
        <p:nvPicPr>
          <p:cNvPr id="61" name="Image 5" descr="/tmp/sculpt-deck/build/img/crop-1708-4x5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483864" y="4279392"/>
            <a:ext cx="914400" cy="1143000"/>
          </a:xfrm>
          <a:prstGeom prst="rect">
            <a:avLst/>
          </a:prstGeom>
        </p:spPr>
      </p:pic>
      <p:sp>
        <p:nvSpPr>
          <p:cNvPr id="62" name="Text 54"/>
          <p:cNvSpPr/>
          <p:nvPr/>
        </p:nvSpPr>
        <p:spPr>
          <a:xfrm>
            <a:off x="4489704" y="427939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7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200" dirty="0"/>
          </a:p>
        </p:txBody>
      </p:sp>
      <p:sp>
        <p:nvSpPr>
          <p:cNvPr id="63" name="Text 55"/>
          <p:cNvSpPr/>
          <p:nvPr/>
        </p:nvSpPr>
        <p:spPr>
          <a:xfrm>
            <a:off x="5266944" y="429768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spc="400" kern="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D-5</a:t>
            </a:r>
            <a:endParaRPr lang="en-US" sz="700" dirty="0"/>
          </a:p>
        </p:txBody>
      </p:sp>
      <p:sp>
        <p:nvSpPr>
          <p:cNvPr id="64" name="Text 56"/>
          <p:cNvSpPr/>
          <p:nvPr/>
        </p:nvSpPr>
        <p:spPr>
          <a:xfrm>
            <a:off x="4489704" y="44805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Story "últimos cupos"</a:t>
            </a:r>
            <a:endParaRPr lang="en-US" sz="1100" dirty="0"/>
          </a:p>
        </p:txBody>
      </p:sp>
      <p:sp>
        <p:nvSpPr>
          <p:cNvPr id="65" name="Text 57"/>
          <p:cNvSpPr/>
          <p:nvPr/>
        </p:nvSpPr>
        <p:spPr>
          <a:xfrm>
            <a:off x="4489704" y="4754880"/>
            <a:ext cx="1600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Story 1080×1920</a:t>
            </a:r>
            <a:endParaRPr lang="en-US" sz="700" dirty="0"/>
          </a:p>
        </p:txBody>
      </p:sp>
      <p:sp>
        <p:nvSpPr>
          <p:cNvPr id="66" name="Text 58"/>
          <p:cNvSpPr/>
          <p:nvPr/>
        </p:nvSpPr>
        <p:spPr>
          <a:xfrm>
            <a:off x="4489704" y="496519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Urgencia final</a:t>
            </a:r>
            <a:endParaRPr lang="en-US" sz="800" dirty="0"/>
          </a:p>
        </p:txBody>
      </p:sp>
      <p:sp>
        <p:nvSpPr>
          <p:cNvPr id="67" name="Shape 59"/>
          <p:cNvSpPr/>
          <p:nvPr/>
        </p:nvSpPr>
        <p:spPr>
          <a:xfrm>
            <a:off x="3483864" y="5468112"/>
            <a:ext cx="2606040" cy="0"/>
          </a:xfrm>
          <a:prstGeom prst="line">
            <a:avLst/>
          </a:prstGeom>
          <a:noFill/>
          <a:ln w="5080">
            <a:solidFill>
              <a:srgbClr val="D8CDB8"/>
            </a:solidFill>
            <a:prstDash val="solid"/>
          </a:ln>
        </p:spPr>
      </p:sp>
      <p:sp>
        <p:nvSpPr>
          <p:cNvPr id="68" name="Text 60"/>
          <p:cNvSpPr/>
          <p:nvPr/>
        </p:nvSpPr>
        <p:spPr>
          <a:xfrm>
            <a:off x="3483864" y="5513832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spc="400" kern="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TEXTO</a:t>
            </a:r>
            <a:endParaRPr lang="en-US" sz="600" dirty="0"/>
          </a:p>
        </p:txBody>
      </p:sp>
      <p:sp>
        <p:nvSpPr>
          <p:cNvPr id="69" name="Text 61"/>
          <p:cNvSpPr/>
          <p:nvPr/>
        </p:nvSpPr>
        <p:spPr>
          <a:xfrm>
            <a:off x="3483864" y="5669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"QUEDAN 3 LUGARES."</a:t>
            </a:r>
            <a:endParaRPr lang="en-US" sz="800" dirty="0"/>
          </a:p>
        </p:txBody>
      </p:sp>
      <p:sp>
        <p:nvSpPr>
          <p:cNvPr id="70" name="Shape 62"/>
          <p:cNvSpPr/>
          <p:nvPr/>
        </p:nvSpPr>
        <p:spPr>
          <a:xfrm>
            <a:off x="6327648" y="4187952"/>
            <a:ext cx="278892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DB8"/>
            </a:solidFill>
            <a:prstDash val="solid"/>
          </a:ln>
        </p:spPr>
      </p:sp>
      <p:pic>
        <p:nvPicPr>
          <p:cNvPr id="71" name="Image 6" descr="/tmp/sculpt-deck/build/img/crop-1240-4x5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419088" y="4279392"/>
            <a:ext cx="914400" cy="1143000"/>
          </a:xfrm>
          <a:prstGeom prst="rect">
            <a:avLst/>
          </a:prstGeom>
        </p:spPr>
      </p:pic>
      <p:sp>
        <p:nvSpPr>
          <p:cNvPr id="72" name="Text 63"/>
          <p:cNvSpPr/>
          <p:nvPr/>
        </p:nvSpPr>
        <p:spPr>
          <a:xfrm>
            <a:off x="7424928" y="427939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7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200" dirty="0"/>
          </a:p>
        </p:txBody>
      </p:sp>
      <p:sp>
        <p:nvSpPr>
          <p:cNvPr id="73" name="Text 64"/>
          <p:cNvSpPr/>
          <p:nvPr/>
        </p:nvSpPr>
        <p:spPr>
          <a:xfrm>
            <a:off x="8202168" y="429768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spc="400" kern="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D-1</a:t>
            </a:r>
            <a:endParaRPr lang="en-US" sz="700" dirty="0"/>
          </a:p>
        </p:txBody>
      </p:sp>
      <p:sp>
        <p:nvSpPr>
          <p:cNvPr id="74" name="Text 65"/>
          <p:cNvSpPr/>
          <p:nvPr/>
        </p:nvSpPr>
        <p:spPr>
          <a:xfrm>
            <a:off x="7424928" y="44805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Post recordatorio</a:t>
            </a:r>
            <a:endParaRPr lang="en-US" sz="1100" dirty="0"/>
          </a:p>
        </p:txBody>
      </p:sp>
      <p:sp>
        <p:nvSpPr>
          <p:cNvPr id="75" name="Text 66"/>
          <p:cNvSpPr/>
          <p:nvPr/>
        </p:nvSpPr>
        <p:spPr>
          <a:xfrm>
            <a:off x="7424928" y="4754880"/>
            <a:ext cx="1600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Feed 1080×1350</a:t>
            </a:r>
            <a:endParaRPr lang="en-US" sz="700" dirty="0"/>
          </a:p>
        </p:txBody>
      </p:sp>
      <p:sp>
        <p:nvSpPr>
          <p:cNvPr id="76" name="Text 67"/>
          <p:cNvSpPr/>
          <p:nvPr/>
        </p:nvSpPr>
        <p:spPr>
          <a:xfrm>
            <a:off x="7424928" y="496519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Confirmar · FOMO</a:t>
            </a:r>
            <a:endParaRPr lang="en-US" sz="800" dirty="0"/>
          </a:p>
        </p:txBody>
      </p:sp>
      <p:sp>
        <p:nvSpPr>
          <p:cNvPr id="77" name="Shape 68"/>
          <p:cNvSpPr/>
          <p:nvPr/>
        </p:nvSpPr>
        <p:spPr>
          <a:xfrm>
            <a:off x="6419088" y="5468112"/>
            <a:ext cx="2606040" cy="0"/>
          </a:xfrm>
          <a:prstGeom prst="line">
            <a:avLst/>
          </a:prstGeom>
          <a:noFill/>
          <a:ln w="5080">
            <a:solidFill>
              <a:srgbClr val="D8CDB8"/>
            </a:solidFill>
            <a:prstDash val="solid"/>
          </a:ln>
        </p:spPr>
      </p:sp>
      <p:sp>
        <p:nvSpPr>
          <p:cNvPr id="78" name="Text 69"/>
          <p:cNvSpPr/>
          <p:nvPr/>
        </p:nvSpPr>
        <p:spPr>
          <a:xfrm>
            <a:off x="6419088" y="5513832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spc="400" kern="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TEXTO</a:t>
            </a:r>
            <a:endParaRPr lang="en-US" sz="600" dirty="0"/>
          </a:p>
        </p:txBody>
      </p:sp>
      <p:sp>
        <p:nvSpPr>
          <p:cNvPr id="79" name="Text 70"/>
          <p:cNvSpPr/>
          <p:nvPr/>
        </p:nvSpPr>
        <p:spPr>
          <a:xfrm>
            <a:off x="6419088" y="5669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"mañana. 10am. nos vemos."</a:t>
            </a:r>
            <a:endParaRPr lang="en-US" sz="800" dirty="0"/>
          </a:p>
        </p:txBody>
      </p:sp>
      <p:sp>
        <p:nvSpPr>
          <p:cNvPr id="80" name="Shape 71"/>
          <p:cNvSpPr/>
          <p:nvPr/>
        </p:nvSpPr>
        <p:spPr>
          <a:xfrm>
            <a:off x="9262872" y="4187952"/>
            <a:ext cx="278892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DB8"/>
            </a:solidFill>
            <a:prstDash val="solid"/>
          </a:ln>
        </p:spPr>
      </p:sp>
      <p:pic>
        <p:nvPicPr>
          <p:cNvPr id="81" name="Image 7" descr="/tmp/sculpt-deck/build/img/crop-1293-4x5.jp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354312" y="4279392"/>
            <a:ext cx="914400" cy="1143000"/>
          </a:xfrm>
          <a:prstGeom prst="rect">
            <a:avLst/>
          </a:prstGeom>
        </p:spPr>
      </p:pic>
      <p:sp>
        <p:nvSpPr>
          <p:cNvPr id="82" name="Text 72"/>
          <p:cNvSpPr/>
          <p:nvPr/>
        </p:nvSpPr>
        <p:spPr>
          <a:xfrm>
            <a:off x="10360152" y="427939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7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200" dirty="0"/>
          </a:p>
        </p:txBody>
      </p:sp>
      <p:sp>
        <p:nvSpPr>
          <p:cNvPr id="83" name="Text 73"/>
          <p:cNvSpPr/>
          <p:nvPr/>
        </p:nvSpPr>
        <p:spPr>
          <a:xfrm>
            <a:off x="11137392" y="429768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spc="400" kern="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D-day</a:t>
            </a:r>
            <a:endParaRPr lang="en-US" sz="700" dirty="0"/>
          </a:p>
        </p:txBody>
      </p:sp>
      <p:sp>
        <p:nvSpPr>
          <p:cNvPr id="84" name="Text 74"/>
          <p:cNvSpPr/>
          <p:nvPr/>
        </p:nvSpPr>
        <p:spPr>
          <a:xfrm>
            <a:off x="10360152" y="44805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Plantilla repost</a:t>
            </a:r>
            <a:endParaRPr lang="en-US" sz="1100" dirty="0"/>
          </a:p>
        </p:txBody>
      </p:sp>
      <p:sp>
        <p:nvSpPr>
          <p:cNvPr id="85" name="Text 75"/>
          <p:cNvSpPr/>
          <p:nvPr/>
        </p:nvSpPr>
        <p:spPr>
          <a:xfrm>
            <a:off x="10360152" y="4754880"/>
            <a:ext cx="1600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Story PNG frame</a:t>
            </a:r>
            <a:endParaRPr lang="en-US" sz="700" dirty="0"/>
          </a:p>
        </p:txBody>
      </p:sp>
      <p:sp>
        <p:nvSpPr>
          <p:cNvPr id="86" name="Text 76"/>
          <p:cNvSpPr/>
          <p:nvPr/>
        </p:nvSpPr>
        <p:spPr>
          <a:xfrm>
            <a:off x="10360152" y="496519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Asistentes comparten</a:t>
            </a:r>
            <a:endParaRPr lang="en-US" sz="800" dirty="0"/>
          </a:p>
        </p:txBody>
      </p:sp>
      <p:sp>
        <p:nvSpPr>
          <p:cNvPr id="87" name="Shape 77"/>
          <p:cNvSpPr/>
          <p:nvPr/>
        </p:nvSpPr>
        <p:spPr>
          <a:xfrm>
            <a:off x="9354312" y="5468112"/>
            <a:ext cx="2606040" cy="0"/>
          </a:xfrm>
          <a:prstGeom prst="line">
            <a:avLst/>
          </a:prstGeom>
          <a:noFill/>
          <a:ln w="5080">
            <a:solidFill>
              <a:srgbClr val="D8CDB8"/>
            </a:solidFill>
            <a:prstDash val="solid"/>
          </a:ln>
        </p:spPr>
      </p:sp>
      <p:sp>
        <p:nvSpPr>
          <p:cNvPr id="88" name="Text 78"/>
          <p:cNvSpPr/>
          <p:nvPr/>
        </p:nvSpPr>
        <p:spPr>
          <a:xfrm>
            <a:off x="9354312" y="5513832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spc="400" kern="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TEXTO</a:t>
            </a:r>
            <a:endParaRPr lang="en-US" sz="600" dirty="0"/>
          </a:p>
        </p:txBody>
      </p:sp>
      <p:sp>
        <p:nvSpPr>
          <p:cNvPr id="89" name="Text 79"/>
          <p:cNvSpPr/>
          <p:nvPr/>
        </p:nvSpPr>
        <p:spPr>
          <a:xfrm>
            <a:off x="9354312" y="5669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frame transparente para selfie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SCULPT SOCIETY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76895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600" kern="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· REGLAS DE EJECUCIÓN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9525">
            <a:solidFill>
              <a:srgbClr val="811D1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6350">
            <a:solidFill>
              <a:srgbClr val="811D16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@sculptsocietycr · sculptsocietycr.com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 / 18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811D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Sí. No.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 diferencia entre premium y "Canva amateur".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5486400" cy="4389120"/>
          </a:xfrm>
          <a:prstGeom prst="rect">
            <a:avLst/>
          </a:prstGeom>
          <a:solidFill>
            <a:srgbClr val="811D16"/>
          </a:solidFill>
          <a:ln w="12700">
            <a:solidFill>
              <a:srgbClr val="811D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94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E7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SÍ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0080" y="2697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 Logo arriba-izquierda, máx 120px de alto. Nunca centrado.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 Una foto por pieza. Más = álbum.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5204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 Máx 3 colores por pieza (sin contar texto cuerpo).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931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 Máx 3 tipografías: display + italic + cuerpo.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343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 Si dudás, sumá 20px más de padding.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754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 Fotos siempre: esquinas redondeadas (16-24px) en tarjetas · bleed total en fondos.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5166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 Coral solo en acentos: un número, una línea, un sparkle.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55778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 Fechas siempre escritas igual: "13 · Junio".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45352" y="2011680"/>
            <a:ext cx="5486400" cy="4389120"/>
          </a:xfrm>
          <a:prstGeom prst="rect">
            <a:avLst/>
          </a:prstGeom>
          <a:solidFill>
            <a:srgbClr val="F9F5ED"/>
          </a:solidFill>
          <a:ln w="19050">
            <a:solidFill>
              <a:srgbClr val="811D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2194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811D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446520" y="2697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✗  Sombra dura (drop-shadow fuerte) en texto. Es el delator de "Canva-amateur".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46520" y="3108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✗  Gradientes arcoíris de 4 colores.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46520" y="35204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✗  &gt; 1 sparkle/emoji en la versión editorial.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46520" y="3931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✗  Stock genérico (rubia laughing salad). Si no es tu foto, no va.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46520" y="4343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✗  Mezclar alineación centrada + izquierda en la misma pieza.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46520" y="4754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✗  Logos de terceros (la locación) en la pieza principal.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46520" y="5166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✗  Filtros IG (Lark/Juno/Slumber). Color grade manual o nada.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46520" y="55778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✗  Formatos de fecha distintos entre piezas.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SCULPT SOCIETY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76895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600" kern="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· COLOR GRADE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9525">
            <a:solidFill>
              <a:srgbClr val="811D1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6350">
            <a:solidFill>
              <a:srgbClr val="811D16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@sculptsocietycr · sculptsocietycr.com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 / 18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811D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look. Todas las fotos.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Aplicá el preset antes de poner fotos en cualquier pieza. Los deltas entre "shoot" y "editorial".</a:t>
            </a:r>
            <a:endParaRPr lang="en-US" sz="1200" dirty="0"/>
          </a:p>
        </p:txBody>
      </p:sp>
      <p:pic>
        <p:nvPicPr>
          <p:cNvPr id="10" name="Image 0" descr="/tmp/sculpt-deck/build/img/crop-1240-4x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2103120"/>
            <a:ext cx="3200400" cy="40233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61722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IMG_1240 · antes</a:t>
            </a:r>
            <a:endParaRPr lang="en-US" sz="800" dirty="0"/>
          </a:p>
        </p:txBody>
      </p:sp>
      <p:pic>
        <p:nvPicPr>
          <p:cNvPr id="12" name="Image 1" descr="/tmp/sculpt-deck/build/img/crop-1716-4x5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40480" y="2103120"/>
            <a:ext cx="3200400" cy="40233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40480" y="61722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IMG_1716 · antes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7315200" y="2103120"/>
            <a:ext cx="4416552" cy="4251960"/>
          </a:xfrm>
          <a:prstGeom prst="rect">
            <a:avLst/>
          </a:prstGeom>
          <a:solidFill>
            <a:srgbClr val="811D16"/>
          </a:solidFill>
          <a:ln w="12700">
            <a:solidFill>
              <a:srgbClr val="811D1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498080" y="22860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PRESET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7498080" y="2560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9F5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Calidez Editorial.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7498080" y="32004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BA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Exposición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9509760" y="32004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F5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7498080" y="345643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BA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Luces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9509760" y="345643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F5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−10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7498080" y="371246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BA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Sombras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9509760" y="3712464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F5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+15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7498080" y="396849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BA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Blancos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9509760" y="3968496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F5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+5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7498080" y="422452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BA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Negros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9509760" y="422452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F5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7498080" y="44805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BA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Temperatura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9509760" y="44805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F5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+5  (más cálido)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7498080" y="47365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BA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Tinte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9509760" y="473659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F5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  (magenta)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7498080" y="499262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BA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Saturación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9509760" y="4992624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F5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−8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7498080" y="524865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BA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Vibrancia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9509760" y="5248656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F5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+10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7498080" y="550468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BA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Textura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9509760" y="550468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F5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+5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7498080" y="57607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BA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Claridad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9509760" y="57607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F5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811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SCULPT SOCIETY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76895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600" kern="0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 · RECOMENDACIÓN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9525">
            <a:solidFill>
              <a:srgbClr val="F9F5ED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6350">
            <a:solidFill>
              <a:srgbClr val="F9F5ED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@sculptsocietycr · sculptsocietycr.com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 / 18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0" kern="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DECISIÓN FINAL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400" i="1" dirty="0">
                <a:solidFill>
                  <a:srgbClr val="F9F5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Lanzá la Opción 3.</a:t>
            </a:r>
            <a:endParaRPr lang="en-US" sz="6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400" i="1" dirty="0">
                <a:solidFill>
                  <a:srgbClr val="F9F5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Usá las tres.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4BA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porque las otras sean débiles — porque cada una tiene un trabajo.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11480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373330"/>
          </a:solidFill>
          <a:ln w="12700">
            <a:solidFill>
              <a:srgbClr val="E755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27939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OPC 03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800" y="4480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9F5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Magazine Cover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85800" y="49834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755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PIEZA PRINCIPAL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52578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F4BA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Post de feed · invitación impresa · save-the-date.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61688" y="411480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373330"/>
          </a:solidFill>
          <a:ln w="12700">
            <a:solidFill>
              <a:srgbClr val="F4BA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0288" y="427939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F4BA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OPC 02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90288" y="4480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9F5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Y2K Brunch Club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90288" y="49834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4BA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STORIES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90288" y="52578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F4BA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Teasers · últimos cupos · repost asistentes.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66176" y="411480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373330"/>
          </a:solidFill>
          <a:ln w="12700">
            <a:solidFill>
              <a:srgbClr val="D6C7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94776" y="427939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D6C77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OPC 01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494776" y="4480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9F5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Editorial Calma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494776" y="49834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6C77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COUNTDOWN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94776" y="52578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F4BA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Save-the-date · countdown diario · recordatorio.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SCULPT SOCIETY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76895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600" kern="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 · PLAN DE ACCIÓN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9525">
            <a:solidFill>
              <a:srgbClr val="811D1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6350">
            <a:solidFill>
              <a:srgbClr val="811D16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@sculptsocietycr · sculptsocietycr.com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 / 18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811D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de acción.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Siete pasos. Tres semanas. Un evento sold-out.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548640" cy="548640"/>
          </a:xfrm>
          <a:prstGeom prst="ellipse">
            <a:avLst/>
          </a:prstGeom>
          <a:solidFill>
            <a:srgbClr val="E7552C"/>
          </a:solidFill>
          <a:ln w="12700">
            <a:solidFill>
              <a:srgbClr val="E755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1488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88720" y="23774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Rotar las 6 HEIC. Aplicar el color grade. Exportar a 1400px.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188720" y="2651760"/>
            <a:ext cx="10058400" cy="0"/>
          </a:xfrm>
          <a:prstGeom prst="line">
            <a:avLst/>
          </a:prstGeom>
          <a:noFill/>
          <a:ln w="5080">
            <a:solidFill>
              <a:srgbClr val="D8CD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670048"/>
            <a:ext cx="548640" cy="548640"/>
          </a:xfrm>
          <a:prstGeom prst="ellipse">
            <a:avLst/>
          </a:prstGeom>
          <a:solidFill>
            <a:srgbClr val="E7552C"/>
          </a:solidFill>
          <a:ln w="12700">
            <a:solidFill>
              <a:srgbClr val="E755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700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7157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SEMANA 01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294436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Producir Opción 3 (post + story) en Canva → publicar como anuncio principal.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188720" y="3218688"/>
            <a:ext cx="10058400" cy="0"/>
          </a:xfrm>
          <a:prstGeom prst="line">
            <a:avLst/>
          </a:prstGeom>
          <a:noFill/>
          <a:ln w="5080">
            <a:solidFill>
              <a:srgbClr val="D8CD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236976"/>
            <a:ext cx="548640" cy="548640"/>
          </a:xfrm>
          <a:prstGeom prst="ellipse">
            <a:avLst/>
          </a:prstGeom>
          <a:solidFill>
            <a:srgbClr val="E7552C"/>
          </a:solidFill>
          <a:ln w="12700">
            <a:solidFill>
              <a:srgbClr val="E755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2369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282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DÍA +3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88720" y="351129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Publicar carrusel "qué es Sculpt Society" para captar nuevas seguidoras.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188720" y="3785616"/>
            <a:ext cx="10058400" cy="0"/>
          </a:xfrm>
          <a:prstGeom prst="line">
            <a:avLst/>
          </a:prstGeom>
          <a:noFill/>
          <a:ln w="5080">
            <a:solidFill>
              <a:srgbClr val="D8CD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803904"/>
            <a:ext cx="548640" cy="548640"/>
          </a:xfrm>
          <a:prstGeom prst="ellipse">
            <a:avLst/>
          </a:prstGeom>
          <a:solidFill>
            <a:srgbClr val="E7552C"/>
          </a:solidFill>
          <a:ln w="12700">
            <a:solidFill>
              <a:srgbClr val="E755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8039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384962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DÍA +7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88720" y="4078224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Producir story countdown (template única, repetida c/2-3 días).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188720" y="4352544"/>
            <a:ext cx="10058400" cy="0"/>
          </a:xfrm>
          <a:prstGeom prst="line">
            <a:avLst/>
          </a:prstGeom>
          <a:noFill/>
          <a:ln w="5080">
            <a:solidFill>
              <a:srgbClr val="D8CD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370832"/>
            <a:ext cx="548640" cy="548640"/>
          </a:xfrm>
          <a:prstGeom prst="ellipse">
            <a:avLst/>
          </a:prstGeom>
          <a:solidFill>
            <a:srgbClr val="E7552C"/>
          </a:solidFill>
          <a:ln w="12700">
            <a:solidFill>
              <a:srgbClr val="E755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370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88720" y="44165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DÍA +14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88720" y="464515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 no hubo sold-out, publicar Opción 2 como "last spots".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188720" y="4919472"/>
            <a:ext cx="10058400" cy="0"/>
          </a:xfrm>
          <a:prstGeom prst="line">
            <a:avLst/>
          </a:prstGeom>
          <a:noFill/>
          <a:ln w="5080">
            <a:solidFill>
              <a:srgbClr val="D8CD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937760"/>
            <a:ext cx="548640" cy="548640"/>
          </a:xfrm>
          <a:prstGeom prst="ellipse">
            <a:avLst/>
          </a:prstGeom>
          <a:solidFill>
            <a:srgbClr val="E7552C"/>
          </a:solidFill>
          <a:ln w="12700">
            <a:solidFill>
              <a:srgbClr val="E7552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937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88720" y="4983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DÍA -1 · 12 JUN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88720" y="52120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Post recordatorio "mañana. 10am. nos vemos."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188720" y="5486400"/>
            <a:ext cx="10058400" cy="0"/>
          </a:xfrm>
          <a:prstGeom prst="line">
            <a:avLst/>
          </a:prstGeom>
          <a:noFill/>
          <a:ln w="5080">
            <a:solidFill>
              <a:srgbClr val="D8CDB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5504688"/>
            <a:ext cx="548640" cy="548640"/>
          </a:xfrm>
          <a:prstGeom prst="ellipse">
            <a:avLst/>
          </a:prstGeom>
          <a:solidFill>
            <a:srgbClr val="E7552C"/>
          </a:solidFill>
          <a:ln w="12700">
            <a:solidFill>
              <a:srgbClr val="E7552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55046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188720" y="5550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11D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DÍA 0 · 13 JUN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88720" y="57790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7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Mandar plantilla repost por WhatsApp a las inscritas.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811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SCULPT SOCIETY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76895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600" kern="0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CIERRE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9525">
            <a:solidFill>
              <a:srgbClr val="F9F5ED">
                <a:alpha val="40000"/>
              </a:srgbClr>
            </a:solidFill>
            <a:prstDash val="solid"/>
          </a:ln>
        </p:spPr>
      </p:sp>
      <p:pic>
        <p:nvPicPr>
          <p:cNvPr id="5" name="Image 0" descr="/tmp/sculpt-deck/build/img/crop-1716-4x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029200" cy="6858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811D16">
              <a:alpha val="40000"/>
            </a:srgbClr>
          </a:solidFill>
          <a:ln w="12700">
            <a:solidFill>
              <a:srgbClr val="811D16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0" y="1554480"/>
            <a:ext cx="6400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000" i="1" dirty="0">
                <a:solidFill>
                  <a:srgbClr val="E7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Movete.</a:t>
            </a:r>
            <a:endParaRPr lang="en-US" sz="8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0" i="1" dirty="0">
                <a:solidFill>
                  <a:srgbClr val="E7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Conectá.</a:t>
            </a:r>
            <a:endParaRPr lang="en-US" sz="8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0" i="1" dirty="0">
                <a:solidFill>
                  <a:srgbClr val="E7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Brillá.</a:t>
            </a:r>
            <a:endParaRPr lang="en-US" sz="8000" dirty="0"/>
          </a:p>
        </p:txBody>
      </p:sp>
      <p:sp>
        <p:nvSpPr>
          <p:cNvPr id="8" name="Text 5"/>
          <p:cNvSpPr/>
          <p:nvPr/>
        </p:nvSpPr>
        <p:spPr>
          <a:xfrm>
            <a:off x="5486400" y="4937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Sculpt Society — Hannah Montana Edition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0" y="5303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BA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 de Junio · 10:00 a.m. · Paloma Studios · Escazú, CR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0" y="5669280"/>
            <a:ext cx="4572000" cy="0"/>
          </a:xfrm>
          <a:prstGeom prst="line">
            <a:avLst/>
          </a:prstGeom>
          <a:noFill/>
          <a:ln w="9525">
            <a:solidFill>
              <a:srgbClr val="E7552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0" y="5760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9F5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@sculptsocietycr  ·  sculptsocietycr.com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0" y="6263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4B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fin del deck —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Sculpt Society — Hannah Montana Edition · Instagram Creative Direction</dc:title>
  <dc:subject>PptxGenJS Presentation</dc:subject>
  <dc:creator>Sculpt Society Creative Direction</dc:creator>
  <cp:lastModifiedBy>Sculpt Society Creative Direction</cp:lastModifiedBy>
  <cp:revision>1</cp:revision>
  <dcterms:created xsi:type="dcterms:W3CDTF">2026-05-04T00:34:50Z</dcterms:created>
  <dcterms:modified xsi:type="dcterms:W3CDTF">2026-05-04T00:34:50Z</dcterms:modified>
</cp:coreProperties>
</file>